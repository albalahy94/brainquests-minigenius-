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60" r:id="rId2"/>
    <p:sldMasterId id="2147483814" r:id="rId3"/>
    <p:sldMasterId id="2147483832" r:id="rId4"/>
  </p:sldMasterIdLst>
  <p:notesMasterIdLst>
    <p:notesMasterId r:id="rId27"/>
  </p:notesMasterIdLst>
  <p:sldIdLst>
    <p:sldId id="296" r:id="rId5"/>
    <p:sldId id="291" r:id="rId6"/>
    <p:sldId id="297" r:id="rId7"/>
    <p:sldId id="257" r:id="rId8"/>
    <p:sldId id="277" r:id="rId9"/>
    <p:sldId id="282" r:id="rId10"/>
    <p:sldId id="283" r:id="rId11"/>
    <p:sldId id="258" r:id="rId12"/>
    <p:sldId id="263" r:id="rId13"/>
    <p:sldId id="259" r:id="rId14"/>
    <p:sldId id="261" r:id="rId15"/>
    <p:sldId id="260" r:id="rId16"/>
    <p:sldId id="264" r:id="rId17"/>
    <p:sldId id="265" r:id="rId18"/>
    <p:sldId id="266" r:id="rId19"/>
    <p:sldId id="267" r:id="rId20"/>
    <p:sldId id="273" r:id="rId21"/>
    <p:sldId id="284" r:id="rId22"/>
    <p:sldId id="269" r:id="rId23"/>
    <p:sldId id="270" r:id="rId24"/>
    <p:sldId id="271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" Type="http://schemas.openxmlformats.org/officeDocument/2006/relationships/slideMaster" Target="slideMasters/slideMaster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presProps" Target="presProp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tableStyles" Target="tableStyles.xml" /><Relationship Id="rId4" Type="http://schemas.openxmlformats.org/officeDocument/2006/relationships/slideMaster" Target="slideMasters/slideMaster4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notesMaster" Target="notesMasters/notesMaster1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34E8E-931F-E34B-BB08-6285F55C4EE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6D464-995C-CD4C-A65A-401DFF544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6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NaCl</a:t>
            </a:r>
            <a:r>
              <a:rPr lang="en-US" dirty="0"/>
              <a:t> = 0.2 gm ×××××××÷</a:t>
            </a:r>
          </a:p>
          <a:p>
            <a:r>
              <a:rPr lang="en-US" dirty="0"/>
              <a:t>Dextrose  …… E value = 0.13 gm </a:t>
            </a:r>
          </a:p>
          <a:p>
            <a:r>
              <a:rPr lang="en-US" dirty="0"/>
              <a:t>??????</a:t>
            </a:r>
          </a:p>
          <a:p>
            <a:r>
              <a:rPr lang="en-US" dirty="0"/>
              <a:t>0.13 </a:t>
            </a:r>
            <a:r>
              <a:rPr lang="en-US" dirty="0" err="1"/>
              <a:t>NaCl</a:t>
            </a:r>
            <a:r>
              <a:rPr lang="en-US" dirty="0"/>
              <a:t>……. 1 gm Dextrose </a:t>
            </a:r>
          </a:p>
          <a:p>
            <a:r>
              <a:rPr lang="en-US" dirty="0"/>
              <a:t>0.2 </a:t>
            </a:r>
            <a:r>
              <a:rPr lang="en-US" dirty="0" err="1"/>
              <a:t>NaCl</a:t>
            </a:r>
            <a:r>
              <a:rPr lang="en-US" dirty="0"/>
              <a:t>…… xxx </a:t>
            </a:r>
          </a:p>
          <a:p>
            <a:r>
              <a:rPr lang="en-US" dirty="0"/>
              <a:t>D = amount </a:t>
            </a:r>
            <a:r>
              <a:rPr lang="en-US" dirty="0" err="1"/>
              <a:t>NaCl</a:t>
            </a:r>
            <a:r>
              <a:rPr lang="en-US" dirty="0"/>
              <a:t> needed / e </a:t>
            </a:r>
            <a:r>
              <a:rPr lang="en-US"/>
              <a:t>value adjustment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6D464-995C-CD4C-A65A-401DFF5440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5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6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4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3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8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4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3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6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3569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3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5667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23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63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68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427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983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6830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428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497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2818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6125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142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9060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3370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5636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23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7605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17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84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5047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170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118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7675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0317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4852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2746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7373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9583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0596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747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2082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0384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8294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4052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2017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4178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6921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719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2059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783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7618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5836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3511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575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9378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8593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80867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403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9202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2975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09363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0328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6613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5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 /><Relationship Id="rId13" Type="http://schemas.openxmlformats.org/officeDocument/2006/relationships/slideLayout" Target="../slideLayouts/slideLayout29.xml" /><Relationship Id="rId18" Type="http://schemas.openxmlformats.org/officeDocument/2006/relationships/theme" Target="../theme/theme2.xml" /><Relationship Id="rId3" Type="http://schemas.openxmlformats.org/officeDocument/2006/relationships/slideLayout" Target="../slideLayouts/slideLayout19.xml" /><Relationship Id="rId7" Type="http://schemas.openxmlformats.org/officeDocument/2006/relationships/slideLayout" Target="../slideLayouts/slideLayout23.xml" /><Relationship Id="rId12" Type="http://schemas.openxmlformats.org/officeDocument/2006/relationships/slideLayout" Target="../slideLayouts/slideLayout28.xml" /><Relationship Id="rId17" Type="http://schemas.openxmlformats.org/officeDocument/2006/relationships/slideLayout" Target="../slideLayouts/slideLayout33.xml" /><Relationship Id="rId2" Type="http://schemas.openxmlformats.org/officeDocument/2006/relationships/slideLayout" Target="../slideLayouts/slideLayout18.xml" /><Relationship Id="rId16" Type="http://schemas.openxmlformats.org/officeDocument/2006/relationships/slideLayout" Target="../slideLayouts/slideLayout32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7.xml" /><Relationship Id="rId6" Type="http://schemas.openxmlformats.org/officeDocument/2006/relationships/slideLayout" Target="../slideLayouts/slideLayout22.xml" /><Relationship Id="rId11" Type="http://schemas.openxmlformats.org/officeDocument/2006/relationships/slideLayout" Target="../slideLayouts/slideLayout27.xml" /><Relationship Id="rId5" Type="http://schemas.openxmlformats.org/officeDocument/2006/relationships/slideLayout" Target="../slideLayouts/slideLayout21.xml" /><Relationship Id="rId15" Type="http://schemas.openxmlformats.org/officeDocument/2006/relationships/slideLayout" Target="../slideLayouts/slideLayout31.xml" /><Relationship Id="rId10" Type="http://schemas.openxmlformats.org/officeDocument/2006/relationships/slideLayout" Target="../slideLayouts/slideLayout26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20.xml" /><Relationship Id="rId9" Type="http://schemas.openxmlformats.org/officeDocument/2006/relationships/slideLayout" Target="../slideLayouts/slideLayout25.xml" /><Relationship Id="rId14" Type="http://schemas.openxmlformats.org/officeDocument/2006/relationships/slideLayout" Target="../slideLayouts/slideLayout30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 /><Relationship Id="rId13" Type="http://schemas.openxmlformats.org/officeDocument/2006/relationships/slideLayout" Target="../slideLayouts/slideLayout46.xml" /><Relationship Id="rId18" Type="http://schemas.openxmlformats.org/officeDocument/2006/relationships/theme" Target="../theme/theme3.xml" /><Relationship Id="rId3" Type="http://schemas.openxmlformats.org/officeDocument/2006/relationships/slideLayout" Target="../slideLayouts/slideLayout36.xml" /><Relationship Id="rId7" Type="http://schemas.openxmlformats.org/officeDocument/2006/relationships/slideLayout" Target="../slideLayouts/slideLayout40.xml" /><Relationship Id="rId12" Type="http://schemas.openxmlformats.org/officeDocument/2006/relationships/slideLayout" Target="../slideLayouts/slideLayout45.xml" /><Relationship Id="rId17" Type="http://schemas.openxmlformats.org/officeDocument/2006/relationships/slideLayout" Target="../slideLayouts/slideLayout50.xml" /><Relationship Id="rId2" Type="http://schemas.openxmlformats.org/officeDocument/2006/relationships/slideLayout" Target="../slideLayouts/slideLayout35.xml" /><Relationship Id="rId16" Type="http://schemas.openxmlformats.org/officeDocument/2006/relationships/slideLayout" Target="../slideLayouts/slideLayout49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34.xml" /><Relationship Id="rId6" Type="http://schemas.openxmlformats.org/officeDocument/2006/relationships/slideLayout" Target="../slideLayouts/slideLayout39.xml" /><Relationship Id="rId11" Type="http://schemas.openxmlformats.org/officeDocument/2006/relationships/slideLayout" Target="../slideLayouts/slideLayout44.xml" /><Relationship Id="rId5" Type="http://schemas.openxmlformats.org/officeDocument/2006/relationships/slideLayout" Target="../slideLayouts/slideLayout38.xml" /><Relationship Id="rId15" Type="http://schemas.openxmlformats.org/officeDocument/2006/relationships/slideLayout" Target="../slideLayouts/slideLayout48.xml" /><Relationship Id="rId10" Type="http://schemas.openxmlformats.org/officeDocument/2006/relationships/slideLayout" Target="../slideLayouts/slideLayout43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37.xml" /><Relationship Id="rId9" Type="http://schemas.openxmlformats.org/officeDocument/2006/relationships/slideLayout" Target="../slideLayouts/slideLayout42.xml" /><Relationship Id="rId14" Type="http://schemas.openxmlformats.org/officeDocument/2006/relationships/slideLayout" Target="../slideLayouts/slideLayout47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 /><Relationship Id="rId13" Type="http://schemas.openxmlformats.org/officeDocument/2006/relationships/slideLayout" Target="../slideLayouts/slideLayout63.xml" /><Relationship Id="rId18" Type="http://schemas.openxmlformats.org/officeDocument/2006/relationships/theme" Target="../theme/theme4.xml" /><Relationship Id="rId3" Type="http://schemas.openxmlformats.org/officeDocument/2006/relationships/slideLayout" Target="../slideLayouts/slideLayout53.xml" /><Relationship Id="rId7" Type="http://schemas.openxmlformats.org/officeDocument/2006/relationships/slideLayout" Target="../slideLayouts/slideLayout57.xml" /><Relationship Id="rId12" Type="http://schemas.openxmlformats.org/officeDocument/2006/relationships/slideLayout" Target="../slideLayouts/slideLayout62.xml" /><Relationship Id="rId17" Type="http://schemas.openxmlformats.org/officeDocument/2006/relationships/slideLayout" Target="../slideLayouts/slideLayout67.xml" /><Relationship Id="rId2" Type="http://schemas.openxmlformats.org/officeDocument/2006/relationships/slideLayout" Target="../slideLayouts/slideLayout52.xml" /><Relationship Id="rId16" Type="http://schemas.openxmlformats.org/officeDocument/2006/relationships/slideLayout" Target="../slideLayouts/slideLayout66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51.xml" /><Relationship Id="rId6" Type="http://schemas.openxmlformats.org/officeDocument/2006/relationships/slideLayout" Target="../slideLayouts/slideLayout56.xml" /><Relationship Id="rId11" Type="http://schemas.openxmlformats.org/officeDocument/2006/relationships/slideLayout" Target="../slideLayouts/slideLayout61.xml" /><Relationship Id="rId5" Type="http://schemas.openxmlformats.org/officeDocument/2006/relationships/slideLayout" Target="../slideLayouts/slideLayout55.xml" /><Relationship Id="rId15" Type="http://schemas.openxmlformats.org/officeDocument/2006/relationships/slideLayout" Target="../slideLayouts/slideLayout65.xml" /><Relationship Id="rId10" Type="http://schemas.openxmlformats.org/officeDocument/2006/relationships/slideLayout" Target="../slideLayouts/slideLayout6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54.xml" /><Relationship Id="rId9" Type="http://schemas.openxmlformats.org/officeDocument/2006/relationships/slideLayout" Target="../slideLayouts/slideLayout59.xml" /><Relationship Id="rId14" Type="http://schemas.openxmlformats.org/officeDocument/2006/relationships/slideLayout" Target="../slideLayouts/slideLayout6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904C8-BBEF-4FAE-A020-3912E7CA643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A2E3874-DADA-4DAA-955B-CB2A047AF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4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86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9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57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slideLayout" Target="../slideLayouts/slideLayout57.xml" /><Relationship Id="rId1" Type="http://schemas.openxmlformats.org/officeDocument/2006/relationships/tags" Target="../tags/tag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3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5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C033-B110-ADDE-726B-82F8B5FC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F359-240A-40AB-FD7A-5E03C74BE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6179" y="130318"/>
            <a:ext cx="7859643" cy="35051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Physical Pharmacy </a:t>
            </a:r>
            <a:b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</a:b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Lab 9</a:t>
            </a:r>
            <a:b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</a:br>
            <a:r>
              <a:rPr lang="en-US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CPT 203/PT 203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3C8CDE-158B-D106-3813-B4827693A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6104" y="3962400"/>
            <a:ext cx="6069496" cy="1683026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9600" b="1" u="sng" dirty="0" err="1">
                <a:solidFill>
                  <a:schemeClr val="tx1"/>
                </a:solidFill>
              </a:rPr>
              <a:t>Isotonicity</a:t>
            </a:r>
            <a:r>
              <a:rPr lang="en-US" sz="9600" b="1" u="sng" dirty="0">
                <a:solidFill>
                  <a:schemeClr val="tx1"/>
                </a:solidFill>
              </a:rPr>
              <a:t> Part II</a:t>
            </a:r>
          </a:p>
        </p:txBody>
      </p:sp>
    </p:spTree>
    <p:extLst>
      <p:ext uri="{BB962C8B-B14F-4D97-AF65-F5344CB8AC3E}">
        <p14:creationId xmlns:p14="http://schemas.microsoft.com/office/powerpoint/2010/main" val="105350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tl\Downloads\IMG-20260206-WA0022(1)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4" r="3296" b="2862"/>
          <a:stretch/>
        </p:blipFill>
        <p:spPr bwMode="auto">
          <a:xfrm>
            <a:off x="2220867" y="1059167"/>
            <a:ext cx="7477433" cy="481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63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5" t="23835" r="-3085" b="30753"/>
          <a:stretch/>
        </p:blipFill>
        <p:spPr>
          <a:xfrm>
            <a:off x="2796054" y="1001046"/>
            <a:ext cx="6880123" cy="45987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85885" y="2372645"/>
            <a:ext cx="5928852" cy="192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21" tIns="45711" rIns="91421" bIns="45711" rtlCol="0" anchor="ctr"/>
          <a:lstStyle/>
          <a:p>
            <a:pPr algn="ctr"/>
            <a:endParaRPr lang="en-US" sz="13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390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345" y="636989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Method of adjusting isotonicity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744254"/>
            <a:ext cx="11760926" cy="4476757"/>
          </a:xfrm>
        </p:spPr>
        <p:txBody>
          <a:bodyPr>
            <a:normAutofit/>
          </a:bodyPr>
          <a:lstStyle/>
          <a:p>
            <a:pPr marL="0" lvl="0" indent="0" algn="ctr"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None/>
            </a:pPr>
            <a:r>
              <a:rPr lang="en-US" sz="3200" b="1" u="sng" dirty="0">
                <a:solidFill>
                  <a:srgbClr val="FF0000"/>
                </a:solidFill>
                <a:latin typeface="Garamond" panose="02020404030301010803"/>
                <a:ea typeface="SimHei" panose="02010609060101010101" pitchFamily="49" charset="-122"/>
                <a:cs typeface="Times New Roman" panose="02020603050405020304" pitchFamily="18" charset="0"/>
              </a:rPr>
              <a:t>A) Depending on the solute</a:t>
            </a:r>
          </a:p>
          <a:p>
            <a:pPr marL="0" lvl="0" defTabSz="914400">
              <a:spcBef>
                <a:spcPct val="20000"/>
              </a:spcBef>
              <a:spcAft>
                <a:spcPts val="600"/>
              </a:spcAft>
              <a:buClrTx/>
              <a:buSzPct val="115000"/>
              <a:buFont typeface="+mj-lt"/>
              <a:buAutoNum type="arabicPeriod"/>
            </a:pPr>
            <a:r>
              <a:rPr lang="en-US" sz="32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NaCl</a:t>
            </a: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 equivalent method</a:t>
            </a:r>
          </a:p>
          <a:p>
            <a:pPr marL="0" lvl="0" defTabSz="914400">
              <a:spcBef>
                <a:spcPct val="20000"/>
              </a:spcBef>
              <a:spcAft>
                <a:spcPts val="600"/>
              </a:spcAft>
              <a:buClrTx/>
              <a:buSzPct val="115000"/>
              <a:buFont typeface="+mj-lt"/>
              <a:buAutoNum type="arabicPeriod"/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Freezing point depression method (</a:t>
            </a:r>
            <a:r>
              <a:rPr lang="en-US" sz="32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Cryoscopic</a:t>
            </a: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 method)</a:t>
            </a:r>
          </a:p>
          <a:p>
            <a:pPr marL="0" lvl="0" indent="0" algn="ctr">
              <a:spcBef>
                <a:spcPct val="20000"/>
              </a:spcBef>
              <a:spcAft>
                <a:spcPts val="600"/>
              </a:spcAft>
              <a:buClrTx/>
              <a:buSzPct val="115000"/>
              <a:buNone/>
            </a:pPr>
            <a:endParaRPr lang="en-US" sz="2800" u="sng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None/>
            </a:pPr>
            <a:r>
              <a:rPr lang="en-US" sz="3200" b="1" u="sng" dirty="0">
                <a:solidFill>
                  <a:srgbClr val="FF0000"/>
                </a:solidFill>
                <a:latin typeface="Garamond" panose="02020404030301010803"/>
                <a:ea typeface="SimHei" panose="02010609060101010101" pitchFamily="49" charset="-122"/>
                <a:cs typeface="Times New Roman" panose="02020603050405020304" pitchFamily="18" charset="0"/>
              </a:rPr>
              <a:t>B) Depending on the water addition</a:t>
            </a:r>
          </a:p>
          <a:p>
            <a:pPr marL="0" lvl="0" defTabSz="914400">
              <a:spcBef>
                <a:spcPct val="20000"/>
              </a:spcBef>
              <a:spcAft>
                <a:spcPts val="600"/>
              </a:spcAft>
              <a:buClrTx/>
              <a:buSzPct val="115000"/>
              <a:buFont typeface="+mj-lt"/>
              <a:buAutoNum type="arabicPeriod"/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White Vincent method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44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0800" y="2614881"/>
            <a:ext cx="91390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prstClr val="black"/>
                </a:solidFill>
                <a:latin typeface="Garamond" panose="02020404030301010803"/>
              </a:rPr>
              <a:t>W = 0.52 – (a </a:t>
            </a:r>
            <a:r>
              <a:rPr lang="en-US" sz="4800" b="1" dirty="0">
                <a:solidFill>
                  <a:prstClr val="black"/>
                </a:solidFill>
                <a:latin typeface="Garamond" panose="02020404030301010803"/>
              </a:rPr>
              <a:t>x</a:t>
            </a:r>
            <a:r>
              <a:rPr lang="en-US" sz="8000" b="1" dirty="0">
                <a:solidFill>
                  <a:prstClr val="black"/>
                </a:solidFill>
                <a:latin typeface="Garamond" panose="02020404030301010803"/>
              </a:rPr>
              <a:t> </a:t>
            </a:r>
            <a:r>
              <a:rPr lang="en-US" sz="8000" b="1" dirty="0" err="1">
                <a:solidFill>
                  <a:prstClr val="black"/>
                </a:solidFill>
                <a:latin typeface="Garamond" panose="02020404030301010803"/>
              </a:rPr>
              <a:t>conc</a:t>
            </a:r>
            <a:r>
              <a:rPr lang="en-US" sz="8000" b="1" dirty="0">
                <a:solidFill>
                  <a:prstClr val="black"/>
                </a:solidFill>
                <a:latin typeface="Garamond" panose="02020404030301010803"/>
              </a:rPr>
              <a:t>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562600" y="3886200"/>
            <a:ext cx="3048000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81800" y="3657601"/>
            <a:ext cx="7505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prstClr val="black"/>
                </a:solidFill>
                <a:latin typeface="Garamond" panose="02020404030301010803"/>
              </a:rPr>
              <a:t>b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0800000" flipV="1">
            <a:off x="2590800" y="3566388"/>
            <a:ext cx="6858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52600" y="4038601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Garamond" panose="02020404030301010803"/>
              </a:rPr>
              <a:t>Weight of the added adjusting agent(g%)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16200000" flipV="1">
            <a:off x="5791200" y="2514600"/>
            <a:ext cx="381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47900" y="1403547"/>
            <a:ext cx="381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Garamond" panose="02020404030301010803"/>
              </a:rPr>
              <a:t>Freezing point depression of blood plasma (◦C)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76400" y="3886200"/>
            <a:ext cx="28956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aramond" panose="020204040303010108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247899" y="1306138"/>
            <a:ext cx="3474613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aramond" panose="02020404030301010803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rot="5400000" flipH="1" flipV="1">
            <a:off x="7960420" y="273998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0487" y="1411947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Garamond" panose="02020404030301010803"/>
              </a:rPr>
              <a:t>Freezing point depression of the hypotonic solution (◦C)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1800" y="1295400"/>
            <a:ext cx="35814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aramond" panose="020204040303010108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67600" y="4876801"/>
            <a:ext cx="32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Garamond" panose="02020404030301010803"/>
              </a:rPr>
              <a:t>Freezing point depression of </a:t>
            </a:r>
            <a:r>
              <a:rPr lang="en-US" sz="2400" b="1" u="sng" dirty="0">
                <a:solidFill>
                  <a:srgbClr val="002060"/>
                </a:solidFill>
                <a:latin typeface="Garamond" panose="02020404030301010803"/>
              </a:rPr>
              <a:t>1%  </a:t>
            </a:r>
            <a:r>
              <a:rPr lang="en-US" sz="2400" b="1" dirty="0">
                <a:solidFill>
                  <a:srgbClr val="002060"/>
                </a:solidFill>
                <a:latin typeface="Garamond" panose="02020404030301010803"/>
              </a:rPr>
              <a:t>solution of adjusting agent (◦C)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91400" y="4876800"/>
            <a:ext cx="3124200" cy="1752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aramond" panose="02020404030301010803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7543800" y="44958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1752600" y="3048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u="sng" dirty="0">
                <a:solidFill>
                  <a:srgbClr val="FF0000"/>
                </a:solidFill>
              </a:rPr>
              <a:t>We use the following equation:</a:t>
            </a:r>
          </a:p>
        </p:txBody>
      </p:sp>
    </p:spTree>
    <p:extLst>
      <p:ext uri="{BB962C8B-B14F-4D97-AF65-F5344CB8AC3E}">
        <p14:creationId xmlns:p14="http://schemas.microsoft.com/office/powerpoint/2010/main" val="358850333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01636" y="3340204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7887" y="1119389"/>
            <a:ext cx="9684913" cy="4031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black"/>
                </a:solidFill>
                <a:latin typeface="Garamond" panose="02020404030301010803"/>
              </a:rPr>
              <a:t>Example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black"/>
                </a:solidFill>
                <a:latin typeface="Garamond" panose="02020404030301010803"/>
              </a:rPr>
              <a:t>How many grams each of lidocaine hydrochloride and sodium chloride are required to prepare 150ml of a 2% w/v solution of lidocaine hydrochloride isotonic with blood plasma?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black"/>
                </a:solidFill>
                <a:latin typeface="Garamond" panose="02020404030301010803"/>
              </a:rPr>
              <a:t>Freezing point depression of a 1% w/v lidocaine hydrochloride solution is 0.063◦C and that of sodium chloride is 0.576◦C.</a:t>
            </a:r>
          </a:p>
        </p:txBody>
      </p:sp>
    </p:spTree>
    <p:extLst>
      <p:ext uri="{BB962C8B-B14F-4D97-AF65-F5344CB8AC3E}">
        <p14:creationId xmlns:p14="http://schemas.microsoft.com/office/powerpoint/2010/main" val="408993832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77663" y="978991"/>
            <a:ext cx="893793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0541" cmpd="sng">
                  <a:solidFill>
                    <a:srgbClr val="83992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83992A">
                        <a:tint val="40000"/>
                        <a:satMod val="250000"/>
                      </a:srgbClr>
                    </a:gs>
                    <a:gs pos="9000">
                      <a:srgbClr val="83992A">
                        <a:tint val="52000"/>
                        <a:satMod val="300000"/>
                      </a:srgbClr>
                    </a:gs>
                    <a:gs pos="50000">
                      <a:srgbClr val="83992A">
                        <a:shade val="20000"/>
                        <a:satMod val="300000"/>
                      </a:srgbClr>
                    </a:gs>
                    <a:gs pos="79000">
                      <a:srgbClr val="83992A">
                        <a:tint val="52000"/>
                        <a:satMod val="300000"/>
                      </a:srgbClr>
                    </a:gs>
                    <a:gs pos="100000">
                      <a:srgbClr val="83992A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Garamond" panose="02020404030301010803"/>
              </a:rPr>
              <a:t>Amount of lidocaine </a:t>
            </a:r>
            <a:r>
              <a:rPr lang="en-US" sz="2400" b="1" dirty="0" err="1">
                <a:ln w="10541" cmpd="sng">
                  <a:solidFill>
                    <a:srgbClr val="83992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83992A">
                        <a:tint val="40000"/>
                        <a:satMod val="250000"/>
                      </a:srgbClr>
                    </a:gs>
                    <a:gs pos="9000">
                      <a:srgbClr val="83992A">
                        <a:tint val="52000"/>
                        <a:satMod val="300000"/>
                      </a:srgbClr>
                    </a:gs>
                    <a:gs pos="50000">
                      <a:srgbClr val="83992A">
                        <a:shade val="20000"/>
                        <a:satMod val="300000"/>
                      </a:srgbClr>
                    </a:gs>
                    <a:gs pos="79000">
                      <a:srgbClr val="83992A">
                        <a:tint val="52000"/>
                        <a:satMod val="300000"/>
                      </a:srgbClr>
                    </a:gs>
                    <a:gs pos="100000">
                      <a:srgbClr val="83992A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Garamond" panose="02020404030301010803"/>
              </a:rPr>
              <a:t>Hcl</a:t>
            </a:r>
            <a:r>
              <a:rPr lang="en-US" sz="2400" b="1" dirty="0">
                <a:ln w="10541" cmpd="sng">
                  <a:solidFill>
                    <a:srgbClr val="83992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83992A">
                        <a:tint val="40000"/>
                        <a:satMod val="250000"/>
                      </a:srgbClr>
                    </a:gs>
                    <a:gs pos="9000">
                      <a:srgbClr val="83992A">
                        <a:tint val="52000"/>
                        <a:satMod val="300000"/>
                      </a:srgbClr>
                    </a:gs>
                    <a:gs pos="50000">
                      <a:srgbClr val="83992A">
                        <a:shade val="20000"/>
                        <a:satMod val="300000"/>
                      </a:srgbClr>
                    </a:gs>
                    <a:gs pos="79000">
                      <a:srgbClr val="83992A">
                        <a:tint val="52000"/>
                        <a:satMod val="300000"/>
                      </a:srgbClr>
                    </a:gs>
                    <a:gs pos="100000">
                      <a:srgbClr val="83992A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Garamond" panose="02020404030301010803"/>
              </a:rPr>
              <a:t>  </a:t>
            </a:r>
          </a:p>
          <a:p>
            <a:r>
              <a:rPr lang="en-US" sz="2400" b="1" dirty="0">
                <a:ln w="10541" cmpd="sng">
                  <a:solidFill>
                    <a:srgbClr val="83992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83992A">
                        <a:tint val="40000"/>
                        <a:satMod val="250000"/>
                      </a:srgbClr>
                    </a:gs>
                    <a:gs pos="9000">
                      <a:srgbClr val="83992A">
                        <a:tint val="52000"/>
                        <a:satMod val="300000"/>
                      </a:srgbClr>
                    </a:gs>
                    <a:gs pos="50000">
                      <a:srgbClr val="83992A">
                        <a:shade val="20000"/>
                        <a:satMod val="300000"/>
                      </a:srgbClr>
                    </a:gs>
                    <a:gs pos="79000">
                      <a:srgbClr val="83992A">
                        <a:tint val="52000"/>
                        <a:satMod val="300000"/>
                      </a:srgbClr>
                    </a:gs>
                    <a:gs pos="100000">
                      <a:srgbClr val="83992A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Garamond" panose="02020404030301010803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2 gm             100ml</a:t>
            </a: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   x                   150ml                x= 3 g</a:t>
            </a:r>
          </a:p>
          <a:p>
            <a:endParaRPr lang="en-US" sz="2400" b="1" dirty="0">
              <a:ln w="10541" cmpd="sng">
                <a:solidFill>
                  <a:srgbClr val="83992A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83992A">
                      <a:tint val="40000"/>
                      <a:satMod val="250000"/>
                    </a:srgbClr>
                  </a:gs>
                  <a:gs pos="9000">
                    <a:srgbClr val="83992A">
                      <a:tint val="52000"/>
                      <a:satMod val="300000"/>
                    </a:srgbClr>
                  </a:gs>
                  <a:gs pos="50000">
                    <a:srgbClr val="83992A">
                      <a:shade val="20000"/>
                      <a:satMod val="300000"/>
                    </a:srgbClr>
                  </a:gs>
                  <a:gs pos="79000">
                    <a:srgbClr val="83992A">
                      <a:tint val="52000"/>
                      <a:satMod val="300000"/>
                    </a:srgbClr>
                  </a:gs>
                  <a:gs pos="100000">
                    <a:srgbClr val="83992A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Garamond" panose="02020404030301010803"/>
            </a:endParaRPr>
          </a:p>
          <a:p>
            <a:r>
              <a:rPr lang="en-US" sz="2400" b="1" dirty="0">
                <a:ln w="10541" cmpd="sng">
                  <a:solidFill>
                    <a:srgbClr val="83992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83992A">
                        <a:tint val="40000"/>
                        <a:satMod val="250000"/>
                      </a:srgbClr>
                    </a:gs>
                    <a:gs pos="9000">
                      <a:srgbClr val="83992A">
                        <a:tint val="52000"/>
                        <a:satMod val="300000"/>
                      </a:srgbClr>
                    </a:gs>
                    <a:gs pos="50000">
                      <a:srgbClr val="83992A">
                        <a:shade val="20000"/>
                        <a:satMod val="300000"/>
                      </a:srgbClr>
                    </a:gs>
                    <a:gs pos="79000">
                      <a:srgbClr val="83992A">
                        <a:tint val="52000"/>
                        <a:satMod val="300000"/>
                      </a:srgbClr>
                    </a:gs>
                    <a:gs pos="100000">
                      <a:srgbClr val="83992A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Garamond" panose="02020404030301010803"/>
              </a:rPr>
              <a:t>Amount of </a:t>
            </a:r>
            <a:r>
              <a:rPr lang="en-US" sz="2400" b="1" dirty="0" err="1">
                <a:ln w="10541" cmpd="sng">
                  <a:solidFill>
                    <a:srgbClr val="83992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83992A">
                        <a:tint val="40000"/>
                        <a:satMod val="250000"/>
                      </a:srgbClr>
                    </a:gs>
                    <a:gs pos="9000">
                      <a:srgbClr val="83992A">
                        <a:tint val="52000"/>
                        <a:satMod val="300000"/>
                      </a:srgbClr>
                    </a:gs>
                    <a:gs pos="50000">
                      <a:srgbClr val="83992A">
                        <a:shade val="20000"/>
                        <a:satMod val="300000"/>
                      </a:srgbClr>
                    </a:gs>
                    <a:gs pos="79000">
                      <a:srgbClr val="83992A">
                        <a:tint val="52000"/>
                        <a:satMod val="300000"/>
                      </a:srgbClr>
                    </a:gs>
                    <a:gs pos="100000">
                      <a:srgbClr val="83992A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Garamond" panose="02020404030301010803"/>
              </a:rPr>
              <a:t>NaCl</a:t>
            </a:r>
            <a:endParaRPr lang="en-US" sz="2400" b="1" dirty="0">
              <a:ln w="10541" cmpd="sng">
                <a:solidFill>
                  <a:srgbClr val="83992A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83992A">
                      <a:tint val="40000"/>
                      <a:satMod val="250000"/>
                    </a:srgbClr>
                  </a:gs>
                  <a:gs pos="9000">
                    <a:srgbClr val="83992A">
                      <a:tint val="52000"/>
                      <a:satMod val="300000"/>
                    </a:srgbClr>
                  </a:gs>
                  <a:gs pos="50000">
                    <a:srgbClr val="83992A">
                      <a:shade val="20000"/>
                      <a:satMod val="300000"/>
                    </a:srgbClr>
                  </a:gs>
                  <a:gs pos="79000">
                    <a:srgbClr val="83992A">
                      <a:tint val="52000"/>
                      <a:satMod val="300000"/>
                    </a:srgbClr>
                  </a:gs>
                  <a:gs pos="100000">
                    <a:srgbClr val="83992A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Garamond" panose="02020404030301010803"/>
            </a:endParaRPr>
          </a:p>
          <a:p>
            <a:endParaRPr lang="en-US" sz="2400" b="1" dirty="0">
              <a:ln w="10541" cmpd="sng">
                <a:solidFill>
                  <a:srgbClr val="83992A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83992A">
                      <a:tint val="40000"/>
                      <a:satMod val="250000"/>
                    </a:srgbClr>
                  </a:gs>
                  <a:gs pos="9000">
                    <a:srgbClr val="83992A">
                      <a:tint val="52000"/>
                      <a:satMod val="300000"/>
                    </a:srgbClr>
                  </a:gs>
                  <a:gs pos="50000">
                    <a:srgbClr val="83992A">
                      <a:shade val="20000"/>
                      <a:satMod val="300000"/>
                    </a:srgbClr>
                  </a:gs>
                  <a:gs pos="79000">
                    <a:srgbClr val="83992A">
                      <a:tint val="52000"/>
                      <a:satMod val="300000"/>
                    </a:srgbClr>
                  </a:gs>
                  <a:gs pos="100000">
                    <a:srgbClr val="83992A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Garamond" panose="02020404030301010803"/>
            </a:endParaRP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w=              </a:t>
            </a:r>
            <a:r>
              <a:rPr lang="en-US" sz="2400" u="sng" dirty="0">
                <a:solidFill>
                  <a:prstClr val="black"/>
                </a:solidFill>
                <a:latin typeface="Garamond" panose="02020404030301010803"/>
              </a:rPr>
              <a:t>0.52- a x </a:t>
            </a:r>
            <a:r>
              <a:rPr lang="en-US" sz="2400" u="sng" dirty="0" err="1">
                <a:solidFill>
                  <a:prstClr val="black"/>
                </a:solidFill>
                <a:latin typeface="Garamond" panose="02020404030301010803"/>
              </a:rPr>
              <a:t>conc</a:t>
            </a:r>
            <a:endParaRPr lang="en-US" sz="2400" u="sng" dirty="0">
              <a:solidFill>
                <a:prstClr val="black"/>
              </a:solidFill>
              <a:latin typeface="Garamond" panose="02020404030301010803"/>
            </a:endParaRP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                         b </a:t>
            </a: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w=              </a:t>
            </a:r>
            <a:r>
              <a:rPr lang="en-US" sz="2400" u="sng" dirty="0">
                <a:solidFill>
                  <a:prstClr val="black"/>
                </a:solidFill>
                <a:latin typeface="Garamond" panose="02020404030301010803"/>
              </a:rPr>
              <a:t>0.52- (0.063 x 2)</a:t>
            </a: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                      0.576</a:t>
            </a: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= 0.684 % (g/100ml</a:t>
            </a: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0.684          100ml</a:t>
            </a:r>
          </a:p>
          <a:p>
            <a:r>
              <a:rPr lang="en-US" sz="2400" dirty="0">
                <a:solidFill>
                  <a:prstClr val="black"/>
                </a:solidFill>
                <a:latin typeface="Garamond" panose="02020404030301010803"/>
              </a:rPr>
              <a:t>   x                150ml                x= 1.026 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D516B9-2A4E-4E27-BAF3-58C68A8144FE}"/>
              </a:ext>
            </a:extLst>
          </p:cNvPr>
          <p:cNvCxnSpPr>
            <a:cxnSpLocks/>
          </p:cNvCxnSpPr>
          <p:nvPr/>
        </p:nvCxnSpPr>
        <p:spPr>
          <a:xfrm>
            <a:off x="2640963" y="1642833"/>
            <a:ext cx="481776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D516B9-2A4E-4E27-BAF3-58C68A8144FE}"/>
              </a:ext>
            </a:extLst>
          </p:cNvPr>
          <p:cNvCxnSpPr>
            <a:cxnSpLocks/>
          </p:cNvCxnSpPr>
          <p:nvPr/>
        </p:nvCxnSpPr>
        <p:spPr>
          <a:xfrm>
            <a:off x="2440833" y="5259776"/>
            <a:ext cx="481776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977" y="1895452"/>
            <a:ext cx="843488" cy="19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503" y="5709525"/>
            <a:ext cx="706437" cy="14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7297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8071" y="506098"/>
            <a:ext cx="8722775" cy="162166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Sodium chloride equivalent method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1254034"/>
            <a:ext cx="11996057" cy="377398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3400" b="1" dirty="0">
                <a:solidFill>
                  <a:srgbClr val="0070C0"/>
                </a:solidFill>
              </a:rPr>
              <a:t>The sodium chloride equivalent ( E value) : </a:t>
            </a:r>
          </a:p>
          <a:p>
            <a:pPr marL="0" indent="0">
              <a:buNone/>
            </a:pPr>
            <a:r>
              <a:rPr lang="en-US" sz="3400" b="1" dirty="0"/>
              <a:t>the amount of sodium chloride (</a:t>
            </a:r>
            <a:r>
              <a:rPr lang="en-US" sz="3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 grams</a:t>
            </a:r>
            <a:r>
              <a:rPr lang="en-US" sz="3400" b="1" dirty="0"/>
              <a:t>) that has the same osmotic pressure as that of </a:t>
            </a:r>
            <a:r>
              <a:rPr lang="en-US" sz="3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 g </a:t>
            </a:r>
            <a:r>
              <a:rPr lang="en-US" sz="3400" b="1" dirty="0"/>
              <a:t>of the chemical.</a:t>
            </a:r>
          </a:p>
          <a:p>
            <a:r>
              <a:rPr lang="en-US" sz="3400" b="1" dirty="0"/>
              <a:t>The sodium chloride equivalent ( E value)</a:t>
            </a:r>
          </a:p>
          <a:p>
            <a:r>
              <a:rPr lang="en-US" sz="3400" b="1" dirty="0"/>
              <a:t>1gm drug             X  gm </a:t>
            </a:r>
            <a:r>
              <a:rPr lang="en-US" sz="3400" b="1" dirty="0" err="1"/>
              <a:t>Nacl</a:t>
            </a:r>
            <a:endParaRPr lang="en-US" sz="3400" b="1" dirty="0"/>
          </a:p>
          <a:p>
            <a:r>
              <a:rPr lang="en-US" sz="3400" b="1" dirty="0"/>
              <a:t>0.9% w/v </a:t>
            </a:r>
            <a:r>
              <a:rPr lang="en-US" sz="3400" b="1" dirty="0" err="1"/>
              <a:t>NaCl</a:t>
            </a:r>
            <a:r>
              <a:rPr lang="en-US" sz="3400" b="1" dirty="0"/>
              <a:t> solution is isotonic .</a:t>
            </a:r>
          </a:p>
          <a:p>
            <a:r>
              <a:rPr lang="en-US" sz="3400" b="1" dirty="0"/>
              <a:t>0.9 gm </a:t>
            </a:r>
            <a:r>
              <a:rPr lang="en-US" sz="3400" b="1" dirty="0" err="1"/>
              <a:t>Nacl</a:t>
            </a:r>
            <a:r>
              <a:rPr lang="en-US" sz="3400" b="1" dirty="0"/>
              <a:t> / 100 ml solution .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 flipV="1">
            <a:off x="2886891" y="3557928"/>
            <a:ext cx="822960" cy="47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58091" y="5362462"/>
            <a:ext cx="10240459" cy="1077218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% of sodium chloride for adjustment =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</a:rPr>
              <a:t> 0.9- (% strength of medicament x 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764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" y="1244651"/>
            <a:ext cx="12100559" cy="5370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44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N.B </a:t>
            </a:r>
          </a:p>
          <a:p>
            <a:pPr marL="0" indent="0" algn="ctr">
              <a:buNone/>
            </a:pPr>
            <a:r>
              <a:rPr lang="en-US" sz="4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If an agent other than sodium chloride such as boric acid, dextrose, sodium or potassium nitrate is to be used to make a solution isotonic, divide the amount of NaCl by NaCl equivalent of the substance used to adjust Isotonicity.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06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2229" y="479222"/>
            <a:ext cx="10689771" cy="982529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1 ) How much </a:t>
            </a: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NaCl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should be added to adjust the </a:t>
            </a: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isotonicity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of 50 mL 1% ephedrine SO4 ?(E=0.13)</a:t>
            </a:r>
            <a:b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</a:br>
            <a:endParaRPr lang="en-US" sz="28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606638"/>
            <a:ext cx="11377748" cy="500988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5100" dirty="0"/>
              <a:t>Answer</a:t>
            </a:r>
          </a:p>
          <a:p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% of sodium chloride for adjustment = 0.9- (% strength of medicament x E)</a:t>
            </a:r>
          </a:p>
          <a:p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% of sodium chloride for adjustment = 0.9- (1x0.13)=0.77 %</a:t>
            </a:r>
          </a:p>
          <a:p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means that 0.77gm of </a:t>
            </a:r>
            <a:r>
              <a:rPr lang="en-US" sz="29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NaCl</a:t>
            </a:r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must be added to each 100 mL to make it isotonic</a:t>
            </a:r>
          </a:p>
          <a:p>
            <a:endParaRPr lang="en-US" sz="29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5o ml of isotonic ephedrine SO4</a:t>
            </a:r>
          </a:p>
          <a:p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0.77 gm           100 ml</a:t>
            </a:r>
          </a:p>
          <a:p>
            <a:pPr marL="0" indent="0">
              <a:buNone/>
            </a:pPr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X                  50 ml</a:t>
            </a:r>
          </a:p>
          <a:p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0.77x 50/100= 38.5/100 = </a:t>
            </a:r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0.385</a:t>
            </a:r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gm of </a:t>
            </a:r>
            <a:r>
              <a:rPr lang="en-US" sz="29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Nacl</a:t>
            </a:r>
            <a:r>
              <a:rPr lang="en-US" sz="2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should be added to 50 ml ephedrine solution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2390503" y="5148331"/>
            <a:ext cx="686445" cy="1030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Arrow 4"/>
          <p:cNvSpPr/>
          <p:nvPr/>
        </p:nvSpPr>
        <p:spPr>
          <a:xfrm>
            <a:off x="2162547" y="5587591"/>
            <a:ext cx="1024790" cy="10303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79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0076" y="0"/>
            <a:ext cx="11017753" cy="7106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just">
              <a:lnSpc>
                <a:spcPct val="150000"/>
              </a:lnSpc>
              <a:spcAft>
                <a:spcPts val="1000"/>
              </a:spcAft>
              <a:buAutoNum type="arabicParenR" startAt="2"/>
            </a:pPr>
            <a:r>
              <a:rPr lang="en-US" sz="33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A-</a:t>
            </a:r>
            <a:r>
              <a:rPr lang="en-US" sz="33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solution contains 1 gm of ephedrine sulfate in a volume of 100 ml, what quantity of sodium chloride must be added to make the solution isotonic ?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33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sz="33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B-</a:t>
            </a:r>
            <a:r>
              <a:rPr lang="en-US" sz="33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If we used dextrose as an adjusting agent, How much dextrose should be added to make isotonic solution? 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28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NaCl equivalent (E) of Ephedrine sulfate and dextrose are  0.23 gm and 0.16 gm respectively</a:t>
            </a:r>
          </a:p>
        </p:txBody>
      </p:sp>
    </p:spTree>
    <p:extLst>
      <p:ext uri="{BB962C8B-B14F-4D97-AF65-F5344CB8AC3E}">
        <p14:creationId xmlns:p14="http://schemas.microsoft.com/office/powerpoint/2010/main" val="411129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1983" y="147591"/>
            <a:ext cx="8911687" cy="89559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Answer</a:t>
            </a:r>
            <a:br>
              <a:rPr lang="en-US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509" y="693620"/>
            <a:ext cx="11878491" cy="61643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/>
              <a:t>% of sodium chloride for adjustment = 0.9- (% strength of medicament x E)</a:t>
            </a:r>
          </a:p>
          <a:p>
            <a:r>
              <a:rPr lang="en-US" sz="2800" dirty="0"/>
              <a:t>% of sodium chloride for adjustment = 0.9- (1x0.23)= </a:t>
            </a:r>
            <a:r>
              <a:rPr lang="en-US" sz="2800" dirty="0">
                <a:highlight>
                  <a:srgbClr val="FFFF00"/>
                </a:highlight>
              </a:rPr>
              <a:t>0.67 %</a:t>
            </a:r>
          </a:p>
          <a:p>
            <a:r>
              <a:rPr lang="en-US" sz="2800" dirty="0"/>
              <a:t>Which means </a:t>
            </a:r>
            <a:r>
              <a:rPr lang="en-US" sz="2800" dirty="0">
                <a:highlight>
                  <a:srgbClr val="FFFF00"/>
                </a:highlight>
              </a:rPr>
              <a:t>0.67gm of </a:t>
            </a:r>
            <a:r>
              <a:rPr lang="en-US" sz="2800" dirty="0" err="1">
                <a:highlight>
                  <a:srgbClr val="FFFF00"/>
                </a:highlight>
              </a:rPr>
              <a:t>NaCl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/>
              <a:t>must be added to each 100 mL to make it isotonic</a:t>
            </a:r>
          </a:p>
          <a:p>
            <a:pPr marL="0" indent="0" algn="ctr">
              <a:buNone/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Dextrose</a:t>
            </a:r>
          </a:p>
          <a:p>
            <a:r>
              <a:rPr lang="en-US" sz="2800" dirty="0"/>
              <a:t>If it is desired to use dextrose instead of sodium chloride for adjusting the tonicity, NaCl equivalent of dextrose = </a:t>
            </a:r>
            <a:r>
              <a:rPr lang="en-US" sz="2800" dirty="0">
                <a:highlight>
                  <a:srgbClr val="FFFF00"/>
                </a:highlight>
              </a:rPr>
              <a:t>0.16</a:t>
            </a:r>
          </a:p>
          <a:p>
            <a:r>
              <a:rPr lang="en-US" sz="2800" dirty="0"/>
              <a:t>1gm dextrose            0.16 gm NaCl </a:t>
            </a:r>
          </a:p>
          <a:p>
            <a:r>
              <a:rPr lang="en-US" sz="2800" dirty="0"/>
              <a:t>X gm dextrose           0.67 gm NaCl </a:t>
            </a:r>
          </a:p>
          <a:p>
            <a:r>
              <a:rPr lang="en-US" sz="2800" dirty="0"/>
              <a:t>X = </a:t>
            </a:r>
            <a:r>
              <a:rPr lang="en-US" sz="2800" dirty="0">
                <a:highlight>
                  <a:srgbClr val="FFFF00"/>
                </a:highlight>
              </a:rPr>
              <a:t>4.2 gm of dextrose </a:t>
            </a:r>
          </a:p>
          <a:p>
            <a:r>
              <a:rPr lang="en-US" sz="2000" dirty="0"/>
              <a:t>  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2FD6FB-C7E5-D27B-B201-E171137E65F9}"/>
              </a:ext>
            </a:extLst>
          </p:cNvPr>
          <p:cNvCxnSpPr/>
          <p:nvPr/>
        </p:nvCxnSpPr>
        <p:spPr>
          <a:xfrm>
            <a:off x="3252651" y="5068389"/>
            <a:ext cx="809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CB8AD6-0A90-8D53-041E-944B8EA41F45}"/>
              </a:ext>
            </a:extLst>
          </p:cNvPr>
          <p:cNvCxnSpPr/>
          <p:nvPr/>
        </p:nvCxnSpPr>
        <p:spPr>
          <a:xfrm>
            <a:off x="3352800" y="5573486"/>
            <a:ext cx="809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5956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137" y="907408"/>
            <a:ext cx="11747863" cy="537049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just" defTabSz="91440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8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3) Calculate the amount of </a:t>
            </a:r>
            <a:r>
              <a:rPr lang="en-US" sz="2800" b="1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r>
              <a:rPr lang="en-US" sz="28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required to make the following ophthalmic solution isotonic.</a:t>
            </a:r>
          </a:p>
          <a:p>
            <a:pPr marL="0" indent="0" algn="just" defTabSz="91440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Rx</a:t>
            </a:r>
          </a:p>
          <a:p>
            <a:pPr marL="0" indent="0" algn="just" defTabSz="91440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Atropine Sulfate          2%    (E=0.13)      </a:t>
            </a:r>
          </a:p>
          <a:p>
            <a:pPr marL="0" indent="0" algn="just" defTabSz="91440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                             </a:t>
            </a: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qs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 defTabSz="91440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Aqua. dist. </a:t>
            </a: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q.s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. ad. 30 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348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5943" y="445988"/>
            <a:ext cx="11996057" cy="64120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 defTabSz="457200">
              <a:spcBef>
                <a:spcPts val="1000"/>
              </a:spcBef>
              <a:buClr>
                <a:srgbClr val="A53010"/>
              </a:buClr>
            </a:pP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Answer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% of sodium chloride for adjustment = 0.9- (% strength of medicament x E)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% of sodium chloride for adjustment = 0.9- (2 x 0.13)=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0.64 %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This means that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0.64gm of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NaCl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must be added to each 100 mL to make it isotonic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endParaRPr lang="en-US" sz="28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For 3o ml of isotonic Atropine solution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0.64gm           100 ml</a:t>
            </a:r>
          </a:p>
          <a:p>
            <a:pPr lvl="0" defTabSz="457200">
              <a:spcBef>
                <a:spcPts val="1000"/>
              </a:spcBef>
              <a:buClr>
                <a:srgbClr val="A53010"/>
              </a:buClr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X                 30 ml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0.64x 30/100= 38.5/100 =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0.19 gm of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Nacl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should be added to 30 ml Atropine solution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980342-19B7-E20C-B5E1-FA6163D318FA}"/>
              </a:ext>
            </a:extLst>
          </p:cNvPr>
          <p:cNvCxnSpPr/>
          <p:nvPr/>
        </p:nvCxnSpPr>
        <p:spPr>
          <a:xfrm>
            <a:off x="2063931" y="5029200"/>
            <a:ext cx="809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8EF190-E16A-63D3-0D19-192F63449DC3}"/>
              </a:ext>
            </a:extLst>
          </p:cNvPr>
          <p:cNvCxnSpPr/>
          <p:nvPr/>
        </p:nvCxnSpPr>
        <p:spPr>
          <a:xfrm>
            <a:off x="2063931" y="5551714"/>
            <a:ext cx="809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150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9250" y="102847"/>
            <a:ext cx="1094275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50000"/>
              </a:lnSpc>
              <a:spcAft>
                <a:spcPts val="1000"/>
              </a:spcAft>
              <a:buAutoNum type="arabicParenR" startAt="4"/>
            </a:pPr>
            <a:r>
              <a:rPr lang="en-US" sz="28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How many grams of </a:t>
            </a:r>
            <a:r>
              <a:rPr lang="en-US" sz="2800" b="1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NaCl</a:t>
            </a:r>
            <a:r>
              <a:rPr lang="en-US" sz="28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should be used in  compounding the following prescription: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657225" algn="l"/>
              </a:tabLst>
            </a:pP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Oxytetracyline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HCl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           0.5%              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E = 0.12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65722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Tetracaine HCl                 2% solution      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65722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Sodium Chloride             Q.S.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65722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Purified water                 ad 30 ml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65722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Make isotonic solution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tabLst>
                <a:tab pos="65722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2% solution of Tetracaine HCl is isotonic.</a:t>
            </a:r>
          </a:p>
        </p:txBody>
      </p:sp>
    </p:spTree>
    <p:extLst>
      <p:ext uri="{BB962C8B-B14F-4D97-AF65-F5344CB8AC3E}">
        <p14:creationId xmlns:p14="http://schemas.microsoft.com/office/powerpoint/2010/main" val="3545695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571" y="130069"/>
            <a:ext cx="11865429" cy="64120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 defTabSz="457200">
              <a:spcBef>
                <a:spcPts val="1000"/>
              </a:spcBef>
              <a:buClr>
                <a:srgbClr val="A53010"/>
              </a:buClr>
            </a:pPr>
            <a:r>
              <a:rPr lang="en-US" sz="3600" dirty="0">
                <a:ln w="0"/>
                <a:solidFill>
                  <a:srgbClr val="A5301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Answer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% of sodium chloride for adjustment = 0.9- (% strength of medicament x E)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% of sodium chloride for adjustment = 0.9- (.5 x 0.12)=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0.84 %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This means that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0.84gm of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NaCl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must be added to each 100 mL to make it isotonic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endParaRPr lang="en-US" sz="28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For 3o ml of isotonic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Oxytetracyline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HCl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0.84gm           100 ml</a:t>
            </a:r>
          </a:p>
          <a:p>
            <a:pPr lvl="0" defTabSz="457200">
              <a:spcBef>
                <a:spcPts val="1000"/>
              </a:spcBef>
              <a:buClr>
                <a:srgbClr val="A53010"/>
              </a:buClr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X                 30 ml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0.84x 30/100=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0.21 gm of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Nacl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should be added to 30 ml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Oxytetracyline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28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HCl</a:t>
            </a:r>
            <a:r>
              <a:rPr lang="en-US" sz="2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917BFA7-EFF6-84ED-63FD-2F149201AB49}"/>
              </a:ext>
            </a:extLst>
          </p:cNvPr>
          <p:cNvCxnSpPr/>
          <p:nvPr/>
        </p:nvCxnSpPr>
        <p:spPr>
          <a:xfrm>
            <a:off x="2259873" y="4741818"/>
            <a:ext cx="809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1F05671-6E17-AC6B-173D-C2414F9F510D}"/>
              </a:ext>
            </a:extLst>
          </p:cNvPr>
          <p:cNvCxnSpPr/>
          <p:nvPr/>
        </p:nvCxnSpPr>
        <p:spPr>
          <a:xfrm>
            <a:off x="2259873" y="5264332"/>
            <a:ext cx="809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1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383" y="1113668"/>
            <a:ext cx="11904617" cy="4399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</a:pPr>
            <a:r>
              <a:rPr lang="en-US" sz="24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sz="28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) How many grams of NaCl should be used in compounding the following prescription: </a:t>
            </a:r>
          </a:p>
          <a:p>
            <a:pPr marL="68580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tabLst>
                <a:tab pos="368617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Pilocarpine nitrate    0.3 g           </a:t>
            </a: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E =0.23 </a:t>
            </a:r>
          </a:p>
          <a:p>
            <a:pPr marL="68580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tabLst>
                <a:tab pos="368617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Sod. Chloride        Q.S. </a:t>
            </a:r>
          </a:p>
          <a:p>
            <a:pPr marL="68580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tabLst>
                <a:tab pos="368617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Purified water     ad 30 ml </a:t>
            </a:r>
          </a:p>
          <a:p>
            <a:pPr marL="68580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tabLst>
                <a:tab pos="3686175" algn="l"/>
              </a:tabLst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Make isotonic solution.</a:t>
            </a:r>
          </a:p>
        </p:txBody>
      </p:sp>
    </p:spTree>
    <p:extLst>
      <p:ext uri="{BB962C8B-B14F-4D97-AF65-F5344CB8AC3E}">
        <p14:creationId xmlns:p14="http://schemas.microsoft.com/office/powerpoint/2010/main" val="3192398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4892" y="881810"/>
            <a:ext cx="7384868" cy="959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0.3 gm           30 ml</a:t>
            </a:r>
          </a:p>
          <a:p>
            <a:pPr lvl="0" defTabSz="457200">
              <a:spcBef>
                <a:spcPts val="1000"/>
              </a:spcBef>
              <a:buClr>
                <a:srgbClr val="A53010"/>
              </a:buClr>
            </a:pPr>
            <a:r>
              <a:rPr lang="en-US" sz="2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X                100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7428" y="2171508"/>
            <a:ext cx="84821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0.3x 100/30= </a:t>
            </a:r>
            <a:r>
              <a:rPr lang="en-US" sz="2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1% pilocarpine nitrate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7428" y="2879647"/>
            <a:ext cx="10994572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% of sodium chloride for adjustment = 0.9- (% strength of medicament x E)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% of sodium chloride for adjustment = 0.9- (1 x 0.23)=</a:t>
            </a: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0.67 %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This means that 0.67gm of </a:t>
            </a:r>
            <a:r>
              <a:rPr lang="en-US" sz="2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NaCl</a:t>
            </a: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must be added to each 100 mL to make it isotonic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7428" y="4565547"/>
            <a:ext cx="10994572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For 3o ml of isotonic pilocarpine nitrate </a:t>
            </a:r>
          </a:p>
          <a:p>
            <a:pPr marL="342900" lvl="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0.67gm           100 ml</a:t>
            </a:r>
          </a:p>
          <a:p>
            <a:pPr lvl="0" defTabSz="457200">
              <a:spcBef>
                <a:spcPts val="1000"/>
              </a:spcBef>
              <a:buClr>
                <a:srgbClr val="A53010"/>
              </a:buClr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X                 30 ml</a:t>
            </a:r>
          </a:p>
          <a:p>
            <a:pPr marL="342900" indent="-342900" defTabSz="457200">
              <a:spcBef>
                <a:spcPts val="1000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0.67x 30/100= </a:t>
            </a: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0.201 gm of </a:t>
            </a:r>
            <a:r>
              <a:rPr lang="en-US" sz="2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Nacl</a:t>
            </a: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should be added to 30 ml pilocarpine nitrate </a:t>
            </a:r>
          </a:p>
          <a:p>
            <a:pPr lvl="0" defTabSz="457200">
              <a:spcBef>
                <a:spcPts val="1000"/>
              </a:spcBef>
              <a:buClr>
                <a:srgbClr val="A53010"/>
              </a:buClr>
            </a:pPr>
            <a:endParaRPr lang="en-US" sz="22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17326" y="216956"/>
            <a:ext cx="1455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ts val="1000"/>
              </a:spcBef>
              <a:buClr>
                <a:srgbClr val="A53010"/>
              </a:buClr>
            </a:pPr>
            <a:r>
              <a:rPr lang="en-US" sz="2800" b="1" dirty="0">
                <a:ln w="0"/>
                <a:solidFill>
                  <a:srgbClr val="A5301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Answer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816A98-D0FA-3CE0-C7E0-BE10F9CFE6DE}"/>
              </a:ext>
            </a:extLst>
          </p:cNvPr>
          <p:cNvCxnSpPr>
            <a:cxnSpLocks/>
          </p:cNvCxnSpPr>
          <p:nvPr/>
        </p:nvCxnSpPr>
        <p:spPr>
          <a:xfrm>
            <a:off x="3659773" y="1619795"/>
            <a:ext cx="6139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B38570-8370-29E2-D7F0-320A56CC0FE0}"/>
              </a:ext>
            </a:extLst>
          </p:cNvPr>
          <p:cNvCxnSpPr>
            <a:cxnSpLocks/>
          </p:cNvCxnSpPr>
          <p:nvPr/>
        </p:nvCxnSpPr>
        <p:spPr>
          <a:xfrm>
            <a:off x="3659774" y="1105990"/>
            <a:ext cx="6139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E541E4-415F-D713-849B-82A104446F27}"/>
              </a:ext>
            </a:extLst>
          </p:cNvPr>
          <p:cNvCxnSpPr>
            <a:cxnSpLocks/>
          </p:cNvCxnSpPr>
          <p:nvPr/>
        </p:nvCxnSpPr>
        <p:spPr>
          <a:xfrm>
            <a:off x="2717073" y="5277396"/>
            <a:ext cx="6139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7BA37C-3475-B640-1F66-59BEAAA4937C}"/>
              </a:ext>
            </a:extLst>
          </p:cNvPr>
          <p:cNvCxnSpPr>
            <a:cxnSpLocks/>
          </p:cNvCxnSpPr>
          <p:nvPr/>
        </p:nvCxnSpPr>
        <p:spPr>
          <a:xfrm>
            <a:off x="2717072" y="5727643"/>
            <a:ext cx="6139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160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3474" y="441193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White-Vincent Method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137" y="1493949"/>
            <a:ext cx="11503165" cy="48038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/>
              <a:t>It involves addition of water to drugs to make an isotonic solution followed by addition of an isotonic solution or buffer solution to bring the solution to final volume.</a:t>
            </a:r>
          </a:p>
          <a:p>
            <a:pPr marL="0" lvl="0" indent="0" algn="ctr" defTabSz="914400">
              <a:spcBef>
                <a:spcPts val="0"/>
              </a:spcBef>
              <a:buClrTx/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V = W x  E  x 111.1</a:t>
            </a:r>
          </a:p>
          <a:p>
            <a:pPr marL="0" indent="0">
              <a:buNone/>
            </a:pPr>
            <a:r>
              <a:rPr lang="en-US" sz="2400" dirty="0"/>
              <a:t>    V= volume of water (The unit is ml)</a:t>
            </a:r>
          </a:p>
          <a:p>
            <a:pPr marL="0" indent="0">
              <a:buNone/>
            </a:pPr>
            <a:r>
              <a:rPr lang="en-US" sz="2400" dirty="0"/>
              <a:t>    W= Weight of drug</a:t>
            </a:r>
          </a:p>
          <a:p>
            <a:pPr marL="0" indent="0">
              <a:buNone/>
            </a:pPr>
            <a:r>
              <a:rPr lang="en-US" sz="2400" dirty="0"/>
              <a:t>    E =NaCl equivalent Value of the drug</a:t>
            </a:r>
          </a:p>
          <a:p>
            <a:pPr marL="0" indent="0">
              <a:buNone/>
            </a:pPr>
            <a:r>
              <a:rPr lang="en-US" sz="2400" dirty="0"/>
              <a:t>   111.1= constant</a:t>
            </a:r>
          </a:p>
          <a:p>
            <a:r>
              <a:rPr lang="en-US" sz="2400" dirty="0"/>
              <a:t>If we have more than one drug , the equation will be :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  V = { (E x W)1 + (E x W)2 + ………… } x 111.1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289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383" y="421533"/>
            <a:ext cx="11808823" cy="61247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FF0000"/>
                </a:solidFill>
                <a:latin typeface="Century" panose="02040604050505020304" pitchFamily="18" charset="0"/>
              </a:rPr>
              <a:t>Rx:</a:t>
            </a:r>
          </a:p>
          <a:p>
            <a:pPr lvl="0"/>
            <a:r>
              <a:rPr lang="en-US" sz="2800" dirty="0">
                <a:solidFill>
                  <a:srgbClr val="FF0000"/>
                </a:solidFill>
                <a:latin typeface="Century" panose="02040604050505020304" pitchFamily="18" charset="0"/>
              </a:rPr>
              <a:t>Chloramphenicol--------------------- 1g            E=0.1</a:t>
            </a:r>
          </a:p>
          <a:p>
            <a:pPr lvl="0"/>
            <a:r>
              <a:rPr lang="en-US" sz="2800" dirty="0">
                <a:solidFill>
                  <a:srgbClr val="FF0000"/>
                </a:solidFill>
                <a:latin typeface="Century" panose="02040604050505020304" pitchFamily="18" charset="0"/>
              </a:rPr>
              <a:t>Purified water ad to------------------100 ml</a:t>
            </a:r>
          </a:p>
          <a:p>
            <a:pPr lvl="0"/>
            <a:r>
              <a:rPr lang="en-US" sz="2800" b="1" dirty="0">
                <a:solidFill>
                  <a:srgbClr val="002060"/>
                </a:solidFill>
                <a:latin typeface="Century" panose="02040604050505020304" pitchFamily="18" charset="0"/>
              </a:rPr>
              <a:t>Make isotonic solution applying the White-Vincent equation.</a:t>
            </a:r>
          </a:p>
          <a:p>
            <a:pPr lvl="0"/>
            <a:endParaRPr lang="en-US" sz="2800" dirty="0">
              <a:solidFill>
                <a:prstClr val="black"/>
              </a:solidFill>
              <a:latin typeface="Century" panose="02040604050505020304" pitchFamily="18" charset="0"/>
            </a:endParaRPr>
          </a:p>
          <a:p>
            <a:pPr lvl="0"/>
            <a:r>
              <a:rPr lang="en-US" sz="2800" b="1" dirty="0">
                <a:solidFill>
                  <a:srgbClr val="C00000"/>
                </a:solidFill>
                <a:latin typeface="Century" panose="02040604050505020304" pitchFamily="18" charset="0"/>
              </a:rPr>
              <a:t>Answer</a:t>
            </a:r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:</a:t>
            </a:r>
          </a:p>
          <a:p>
            <a:pPr lvl="0"/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V= W x E x 111.1</a:t>
            </a:r>
          </a:p>
          <a:p>
            <a:pPr lvl="0"/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=  (1 x 0.1) x 111.1</a:t>
            </a:r>
          </a:p>
          <a:p>
            <a:pPr lvl="0"/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= 11.11 ml</a:t>
            </a:r>
          </a:p>
          <a:p>
            <a:pPr lvl="0"/>
            <a:endParaRPr lang="en-US" sz="2800" dirty="0">
              <a:solidFill>
                <a:prstClr val="black"/>
              </a:solidFill>
              <a:highlight>
                <a:srgbClr val="FFFF00"/>
              </a:highlight>
              <a:latin typeface="Century" panose="02040604050505020304" pitchFamily="18" charset="0"/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So to prepare 100 ml isotonic solution of this prescription we first dissolve the drug into 11.11 mL distilled water and then complete the volume with isotonic solution (Normal Saline 0.9 % </a:t>
            </a:r>
            <a:r>
              <a:rPr lang="en-US" sz="2800" dirty="0" err="1">
                <a:solidFill>
                  <a:prstClr val="black"/>
                </a:solidFill>
                <a:latin typeface="Century" panose="02040604050505020304" pitchFamily="18" charset="0"/>
              </a:rPr>
              <a:t>NaCl</a:t>
            </a:r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)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( </a:t>
            </a:r>
            <a:r>
              <a:rPr lang="en-US" sz="2800" dirty="0" err="1">
                <a:solidFill>
                  <a:prstClr val="black"/>
                </a:solidFill>
                <a:latin typeface="Century" panose="02040604050505020304" pitchFamily="18" charset="0"/>
              </a:rPr>
              <a:t>i.e</a:t>
            </a:r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  the amount of added normal saline =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100-11.11=88.89 ml</a:t>
            </a:r>
            <a:r>
              <a:rPr lang="en-US" sz="2800" dirty="0">
                <a:solidFill>
                  <a:prstClr val="black"/>
                </a:solidFill>
                <a:latin typeface="Century" panose="020406040505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957702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4138" y="243512"/>
            <a:ext cx="11625941" cy="63709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rgbClr val="FF0000"/>
                </a:solidFill>
                <a:latin typeface="Century Gothic" panose="020B0502020202020204" pitchFamily="34" charset="0"/>
              </a:rPr>
              <a:t>R/</a:t>
            </a:r>
          </a:p>
          <a:p>
            <a:pPr lvl="0"/>
            <a:r>
              <a:rPr lang="en-US" sz="2400" b="1" dirty="0" err="1">
                <a:solidFill>
                  <a:srgbClr val="FF0000"/>
                </a:solidFill>
                <a:latin typeface="Century" panose="02040604050505020304" pitchFamily="18" charset="0"/>
              </a:rPr>
              <a:t>Phenacaine</a:t>
            </a:r>
            <a:r>
              <a:rPr lang="en-US" sz="2400" b="1" dirty="0">
                <a:solidFill>
                  <a:srgbClr val="FF0000"/>
                </a:solidFill>
                <a:latin typeface="Century" panose="02040604050505020304" pitchFamily="18" charset="0"/>
              </a:rPr>
              <a:t> hydrochloride  -----------------------------------0.06 g</a:t>
            </a:r>
          </a:p>
          <a:p>
            <a:pPr lvl="0"/>
            <a:r>
              <a:rPr lang="en-US" sz="2400" b="1" dirty="0">
                <a:solidFill>
                  <a:srgbClr val="FF0000"/>
                </a:solidFill>
                <a:latin typeface="Century" panose="02040604050505020304" pitchFamily="18" charset="0"/>
              </a:rPr>
              <a:t>Boric acid-----------------------------------------------------------0.3 g</a:t>
            </a:r>
          </a:p>
          <a:p>
            <a:pPr lvl="0"/>
            <a:r>
              <a:rPr lang="en-US" sz="2400" b="1" dirty="0">
                <a:solidFill>
                  <a:srgbClr val="FF0000"/>
                </a:solidFill>
                <a:latin typeface="Century" panose="02040604050505020304" pitchFamily="18" charset="0"/>
              </a:rPr>
              <a:t>Sterilized water to-------------------------------------------------100 ml</a:t>
            </a:r>
          </a:p>
          <a:p>
            <a:pPr lvl="0"/>
            <a:r>
              <a:rPr lang="en-US" sz="2400" b="1" dirty="0">
                <a:solidFill>
                  <a:srgbClr val="002060"/>
                </a:solidFill>
                <a:latin typeface="Century" panose="02040604050505020304" pitchFamily="18" charset="0"/>
              </a:rPr>
              <a:t>The sodium chloride equivalent of </a:t>
            </a:r>
            <a:r>
              <a:rPr lang="en-US" sz="2400" b="1" dirty="0" err="1">
                <a:solidFill>
                  <a:srgbClr val="002060"/>
                </a:solidFill>
                <a:latin typeface="Century" panose="02040604050505020304" pitchFamily="18" charset="0"/>
              </a:rPr>
              <a:t>phenacaine</a:t>
            </a:r>
            <a:r>
              <a:rPr lang="en-US" sz="2400" b="1" dirty="0">
                <a:solidFill>
                  <a:srgbClr val="002060"/>
                </a:solidFill>
                <a:latin typeface="Century" panose="02040604050505020304" pitchFamily="18" charset="0"/>
              </a:rPr>
              <a:t> hydrochloride is 0.16 and of boric acid is 0.5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lvl="0"/>
            <a:r>
              <a:rPr lang="en-US" sz="2400" b="1" dirty="0">
                <a:solidFill>
                  <a:srgbClr val="FF0000"/>
                </a:solidFill>
                <a:latin typeface="Century" panose="02040604050505020304" pitchFamily="18" charset="0"/>
              </a:rPr>
              <a:t>Answer:</a:t>
            </a:r>
            <a:endParaRPr lang="en-US" sz="2400" dirty="0">
              <a:solidFill>
                <a:prstClr val="black"/>
              </a:solidFill>
              <a:latin typeface="Century" panose="02040604050505020304" pitchFamily="18" charset="0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  <a:latin typeface="Century" panose="02040604050505020304" pitchFamily="18" charset="0"/>
              </a:rPr>
              <a:t>V= [(W1x E1) + (W2x E2) ]x 111.1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Century" panose="02040604050505020304" pitchFamily="18" charset="0"/>
              </a:rPr>
              <a:t>= [ (0.06 x 0.16) + (0.3x 0.5)] x 111.1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= 17.7 ml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entury" panose="02040604050505020304" pitchFamily="18" charset="0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  <a:latin typeface="Century" panose="02040604050505020304" pitchFamily="18" charset="0"/>
              </a:rPr>
              <a:t>So to prepare 100 ml isotonic solution of this prescription we first dissolve drugs into 17.7 mL distilled water and then complete the volume with isotonic solution (Normal Saline 0.9 % </a:t>
            </a:r>
            <a:r>
              <a:rPr lang="en-US" sz="2400" dirty="0" err="1">
                <a:solidFill>
                  <a:prstClr val="black"/>
                </a:solidFill>
                <a:latin typeface="Century" panose="02040604050505020304" pitchFamily="18" charset="0"/>
              </a:rPr>
              <a:t>NaCl</a:t>
            </a:r>
            <a:r>
              <a:rPr lang="en-US" sz="2400" dirty="0">
                <a:solidFill>
                  <a:prstClr val="black"/>
                </a:solidFill>
                <a:latin typeface="Century" panose="02040604050505020304" pitchFamily="18" charset="0"/>
              </a:rPr>
              <a:t>)</a:t>
            </a:r>
          </a:p>
          <a:p>
            <a:pPr lvl="0" algn="ctr"/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( </a:t>
            </a:r>
            <a:r>
              <a:rPr lang="en-US" sz="2400" dirty="0" err="1">
                <a:solidFill>
                  <a:prstClr val="black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i.e</a:t>
            </a:r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  the amount of added normal saline = 100-17.7=82.3 ml). </a:t>
            </a:r>
          </a:p>
          <a:p>
            <a:pPr lvl="0" algn="ctr"/>
            <a:endParaRPr lang="en-US" sz="24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560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23" y="-90152"/>
            <a:ext cx="12221624" cy="69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496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38.6|1.1|1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1|1.4|0.9|1.4|0.8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9|0.5|0.5|1.1|1.5|1.3|10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7|0.5|0.4|0.2|2.9|1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5|0.5|0.5|1.5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3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4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428</TotalTime>
  <Words>1299</Words>
  <Application>Microsoft Office PowerPoint</Application>
  <PresentationFormat>Widescreen</PresentationFormat>
  <Paragraphs>148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Wisp</vt:lpstr>
      <vt:lpstr>1_Organic</vt:lpstr>
      <vt:lpstr>3_Organic</vt:lpstr>
      <vt:lpstr>Organic</vt:lpstr>
      <vt:lpstr>Physical Pharmacy  Lab 9 CPT 203/PT 203</vt:lpstr>
      <vt:lpstr>PowerPoint Presentation</vt:lpstr>
      <vt:lpstr>PowerPoint Presentation</vt:lpstr>
      <vt:lpstr>Method of adjusting isotonicity</vt:lpstr>
      <vt:lpstr>We use the following equation:</vt:lpstr>
      <vt:lpstr>PowerPoint Presentation</vt:lpstr>
      <vt:lpstr>PowerPoint Presentation</vt:lpstr>
      <vt:lpstr>Sodium chloride equivalent method </vt:lpstr>
      <vt:lpstr>PowerPoint Presentation</vt:lpstr>
      <vt:lpstr>1 ) How much NaCl should be added to adjust the isotonicity of 50 mL 1% ephedrine SO4 ?(E=0.13) </vt:lpstr>
      <vt:lpstr>PowerPoint Presentation</vt:lpstr>
      <vt:lpstr>Answer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White-Vincent Method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pharmacy</dc:title>
  <dc:creator>asmaa samy</dc:creator>
  <cp:lastModifiedBy>Asmaa Samy Mesalhy Omara</cp:lastModifiedBy>
  <cp:revision>33</cp:revision>
  <dcterms:created xsi:type="dcterms:W3CDTF">2021-05-28T08:14:35Z</dcterms:created>
  <dcterms:modified xsi:type="dcterms:W3CDTF">2026-04-11T11:41:53Z</dcterms:modified>
</cp:coreProperties>
</file>