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3720" r:id="rId2"/>
  </p:sldMasterIdLst>
  <p:sldIdLst>
    <p:sldId id="283" r:id="rId3"/>
    <p:sldId id="291" r:id="rId4"/>
    <p:sldId id="293" r:id="rId5"/>
    <p:sldId id="282" r:id="rId6"/>
    <p:sldId id="257" r:id="rId7"/>
    <p:sldId id="258" r:id="rId8"/>
    <p:sldId id="260" r:id="rId9"/>
    <p:sldId id="263" r:id="rId10"/>
    <p:sldId id="262" r:id="rId11"/>
    <p:sldId id="266" r:id="rId12"/>
    <p:sldId id="267" r:id="rId13"/>
    <p:sldId id="268" r:id="rId14"/>
    <p:sldId id="269" r:id="rId15"/>
    <p:sldId id="274" r:id="rId16"/>
    <p:sldId id="277" r:id="rId17"/>
    <p:sldId id="279" r:id="rId18"/>
    <p:sldId id="270" r:id="rId19"/>
    <p:sldId id="280" r:id="rId20"/>
    <p:sldId id="281" r:id="rId21"/>
    <p:sldId id="273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764" autoAdjust="0"/>
  </p:normalViewPr>
  <p:slideViewPr>
    <p:cSldViewPr>
      <p:cViewPr varScale="1">
        <p:scale>
          <a:sx n="55" d="100"/>
          <a:sy n="55" d="100"/>
        </p:scale>
        <p:origin x="18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tableStyles" Target="tableStyles.xml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theme" Target="theme/theme1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viewProps" Target="view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presProps" Target="presProp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slide" Target="slides/slide20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0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2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6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818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562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1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9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62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97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11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3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80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25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70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925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010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37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05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8002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585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43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448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273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240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810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8842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409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445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236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847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3400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110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8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 /><Relationship Id="rId13" Type="http://schemas.openxmlformats.org/officeDocument/2006/relationships/slideLayout" Target="../slideLayouts/slideLayout30.xml" /><Relationship Id="rId18" Type="http://schemas.openxmlformats.org/officeDocument/2006/relationships/theme" Target="../theme/theme2.xml" /><Relationship Id="rId3" Type="http://schemas.openxmlformats.org/officeDocument/2006/relationships/slideLayout" Target="../slideLayouts/slideLayout20.xml" /><Relationship Id="rId7" Type="http://schemas.openxmlformats.org/officeDocument/2006/relationships/slideLayout" Target="../slideLayouts/slideLayout24.xml" /><Relationship Id="rId12" Type="http://schemas.openxmlformats.org/officeDocument/2006/relationships/slideLayout" Target="../slideLayouts/slideLayout29.xml" /><Relationship Id="rId17" Type="http://schemas.openxmlformats.org/officeDocument/2006/relationships/slideLayout" Target="../slideLayouts/slideLayout34.xml" /><Relationship Id="rId2" Type="http://schemas.openxmlformats.org/officeDocument/2006/relationships/slideLayout" Target="../slideLayouts/slideLayout19.xml" /><Relationship Id="rId16" Type="http://schemas.openxmlformats.org/officeDocument/2006/relationships/slideLayout" Target="../slideLayouts/slideLayout33.xml" /><Relationship Id="rId1" Type="http://schemas.openxmlformats.org/officeDocument/2006/relationships/slideLayout" Target="../slideLayouts/slideLayout18.xml" /><Relationship Id="rId6" Type="http://schemas.openxmlformats.org/officeDocument/2006/relationships/slideLayout" Target="../slideLayouts/slideLayout23.xml" /><Relationship Id="rId11" Type="http://schemas.openxmlformats.org/officeDocument/2006/relationships/slideLayout" Target="../slideLayouts/slideLayout28.xml" /><Relationship Id="rId5" Type="http://schemas.openxmlformats.org/officeDocument/2006/relationships/slideLayout" Target="../slideLayouts/slideLayout22.xml" /><Relationship Id="rId15" Type="http://schemas.openxmlformats.org/officeDocument/2006/relationships/slideLayout" Target="../slideLayouts/slideLayout32.xml" /><Relationship Id="rId10" Type="http://schemas.openxmlformats.org/officeDocument/2006/relationships/slideLayout" Target="../slideLayouts/slideLayout27.xml" /><Relationship Id="rId19" Type="http://schemas.openxmlformats.org/officeDocument/2006/relationships/image" Target="../media/image1.jpeg" /><Relationship Id="rId4" Type="http://schemas.openxmlformats.org/officeDocument/2006/relationships/slideLayout" Target="../slideLayouts/slideLayout21.xml" /><Relationship Id="rId9" Type="http://schemas.openxmlformats.org/officeDocument/2006/relationships/slideLayout" Target="../slideLayouts/slideLayout26.xml" /><Relationship Id="rId14" Type="http://schemas.openxmlformats.org/officeDocument/2006/relationships/slideLayout" Target="../slideLayouts/slideLayout3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317F0634-5049-4C8E-938C-B4260553F6EB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DED985CA-726F-48ED-AC01-6B364388F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38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36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slideLayout" Target="../slideLayouts/slideLayout19.xml" /><Relationship Id="rId1" Type="http://schemas.openxmlformats.org/officeDocument/2006/relationships/tags" Target="../tags/tag1.xml" /><Relationship Id="rId4" Type="http://schemas.openxmlformats.org/officeDocument/2006/relationships/hyperlink" Target="https://www.sciencedirect.com/topics/chemistry/amphophile" TargetMode="Externa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3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4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 /><Relationship Id="rId1" Type="http://schemas.openxmlformats.org/officeDocument/2006/relationships/tags" Target="../tags/tag5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6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8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9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10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0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11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1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 /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 /><Relationship Id="rId2" Type="http://schemas.openxmlformats.org/officeDocument/2006/relationships/image" Target="../media/image8.emf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FC033-B110-ADDE-726B-82F8B5FCA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F359-240A-40AB-FD7A-5E03C74BE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5051" y="-205409"/>
            <a:ext cx="7859643" cy="350519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Physical Pharmacy </a:t>
            </a:r>
            <a:b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</a:br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Lab 6</a:t>
            </a:r>
            <a:b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</a:br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</a:rPr>
              <a:t>CPT 203/PT 203</a:t>
            </a:r>
            <a:endParaRPr lang="en-US"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EFE8E0-7CBF-F8DA-4CCE-CBD78938F596}"/>
              </a:ext>
            </a:extLst>
          </p:cNvPr>
          <p:cNvSpPr txBox="1"/>
          <p:nvPr/>
        </p:nvSpPr>
        <p:spPr>
          <a:xfrm rot="10800000" flipV="1">
            <a:off x="539749" y="3429000"/>
            <a:ext cx="80645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  <a:t>Hydrophilic-Lipophilic Balance </a:t>
            </a:r>
            <a:br>
              <a:rPr lang="en-US" sz="60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6000" b="1" u="sng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+mj-lt"/>
                <a:ea typeface="+mj-ea"/>
                <a:cs typeface="+mj-cs"/>
              </a:rPr>
              <a:t>(HLB)</a:t>
            </a:r>
          </a:p>
        </p:txBody>
      </p:sp>
    </p:spTree>
    <p:extLst>
      <p:ext uri="{BB962C8B-B14F-4D97-AF65-F5344CB8AC3E}">
        <p14:creationId xmlns:p14="http://schemas.microsoft.com/office/powerpoint/2010/main" val="105350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C:\Users\tl\Downloads\IMG-20260206-WA0022(1)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4" r="3296" b="2862"/>
          <a:stretch/>
        </p:blipFill>
        <p:spPr bwMode="auto">
          <a:xfrm>
            <a:off x="696862" y="1059167"/>
            <a:ext cx="7477433" cy="4815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630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35" t="23835" r="-3085" b="30753"/>
          <a:stretch/>
        </p:blipFill>
        <p:spPr>
          <a:xfrm>
            <a:off x="1272049" y="1001046"/>
            <a:ext cx="6880123" cy="45987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61884" y="2372645"/>
            <a:ext cx="5928852" cy="192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5390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655474" y="927098"/>
            <a:ext cx="7726526" cy="709865"/>
          </a:xfrm>
        </p:spPr>
        <p:txBody>
          <a:bodyPr/>
          <a:lstStyle/>
          <a:p>
            <a:pPr>
              <a:defRPr/>
            </a:pPr>
            <a:r>
              <a:rPr lang="en-US" sz="4000" b="1" u="sng" dirty="0">
                <a:latin typeface="Times New Roman" pitchFamily="18" charset="0"/>
                <a:cs typeface="Times New Roman" pitchFamily="18" charset="0"/>
              </a:rPr>
              <a:t>Surface active agent </a:t>
            </a:r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4000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Surfactants)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2948" name="Picture 4" descr="Dodecylsulfate-3D-vd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74" y="2469370"/>
            <a:ext cx="6018213" cy="2192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784856" y="4438182"/>
            <a:ext cx="5759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2950" name="Rectangle 6"/>
          <p:cNvSpPr>
            <a:spLocks noChangeArrowheads="1"/>
          </p:cNvSpPr>
          <p:nvPr/>
        </p:nvSpPr>
        <p:spPr bwMode="auto">
          <a:xfrm>
            <a:off x="1035681" y="4648200"/>
            <a:ext cx="5257800" cy="6477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Hydrophobic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tail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lypophilic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) </a:t>
            </a:r>
          </a:p>
        </p:txBody>
      </p:sp>
      <p:sp>
        <p:nvSpPr>
          <p:cNvPr id="82951" name="Rectangle 7"/>
          <p:cNvSpPr>
            <a:spLocks noChangeArrowheads="1"/>
          </p:cNvSpPr>
          <p:nvPr/>
        </p:nvSpPr>
        <p:spPr bwMode="auto">
          <a:xfrm>
            <a:off x="6772708" y="2773361"/>
            <a:ext cx="2159000" cy="15843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Hydrophilic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head</a:t>
            </a: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lypophobic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E135F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t>)</a:t>
            </a:r>
          </a:p>
        </p:txBody>
      </p:sp>
      <p:sp>
        <p:nvSpPr>
          <p:cNvPr id="2" name="Rectangle 1"/>
          <p:cNvSpPr/>
          <p:nvPr/>
        </p:nvSpPr>
        <p:spPr>
          <a:xfrm>
            <a:off x="85595" y="5486400"/>
            <a:ext cx="8855508" cy="101566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Tahoma" pitchFamily="34" charset="0"/>
                <a:cs typeface="Times New Roman" pitchFamily="18" charset="0"/>
              </a:rPr>
              <a:t>Surfactants are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Tahoma" pitchFamily="34" charset="0"/>
                <a:cs typeface="Times New Roman" pitchFamily="18" charset="0"/>
                <a:hlinkClick r:id="rId4" tooltip="Learn more about amphiphilic compounds from ScienceDirect's AI-generated Topic Pages"/>
              </a:rPr>
              <a:t>amphiphilic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Tahoma" pitchFamily="34" charset="0"/>
                <a:cs typeface="Times New Roman" pitchFamily="18" charset="0"/>
                <a:hlinkClick r:id="rId4" tooltip="Learn more about amphiphilic compounds from ScienceDirect's AI-generated Topic Pages"/>
              </a:rPr>
              <a:t> compounds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Tahoma" pitchFamily="34" charset="0"/>
                <a:cs typeface="Times New Roman" pitchFamily="18" charset="0"/>
              </a:rPr>
              <a:t> with two opposing portions, one part is hydrophilic and the other is hydrophobic that decrease the surface tension or interfacial tension between two liquids, a liquid and a gas, or a liquid and a solid.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180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6" grpId="0"/>
      <p:bldP spid="82949" grpId="0" animBg="1"/>
      <p:bldP spid="82950" grpId="0" animBg="1"/>
      <p:bldP spid="8295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05977" cy="1202485"/>
          </a:xfrm>
          <a:solidFill>
            <a:schemeClr val="accent5"/>
          </a:solidFill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Hydrophilic-Lipophilic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Balance (HLB)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489200"/>
            <a:ext cx="8839200" cy="4368800"/>
          </a:xfrm>
        </p:spPr>
        <p:txBody>
          <a:bodyPr>
            <a:normAutofit lnSpcReduction="10000"/>
          </a:bodyPr>
          <a:lstStyle/>
          <a:p>
            <a:pPr algn="justLow">
              <a:lnSpc>
                <a:spcPct val="200000"/>
              </a:lnSpc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It is the relative efficiency of the hydrophilic portion of the surfactant molecule to its lipophilic portion of the same molecule.</a:t>
            </a:r>
          </a:p>
          <a:p>
            <a:pPr algn="justLow">
              <a:lnSpc>
                <a:spcPct val="200000"/>
              </a:lnSpc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6304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</p:spPr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4400" dirty="0"/>
              <a:t>HLB Griffin`s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19256"/>
            <a:ext cx="8839200" cy="4510143"/>
          </a:xfrm>
        </p:spPr>
        <p:txBody>
          <a:bodyPr>
            <a:normAutofit/>
          </a:bodyPr>
          <a:lstStyle/>
          <a:p>
            <a:pPr algn="justLow"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It is an arbitrary scale between 0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and 20 which expresses numerically the size and strength of the polar portion relative to the non-polar portion of the molecule.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7037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_x00003" descr="image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381000"/>
            <a:ext cx="8648700" cy="585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220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/>
          </a:solidFill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dirty="0"/>
              <a:t>Aim of HLB </a:t>
            </a:r>
            <a:r>
              <a:rPr lang="en-US" dirty="0" err="1"/>
              <a:t>Griffinˊs</a:t>
            </a:r>
            <a:r>
              <a:rPr lang="en-US" dirty="0"/>
              <a:t>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19256"/>
            <a:ext cx="8763000" cy="4357743"/>
          </a:xfrm>
        </p:spPr>
        <p:txBody>
          <a:bodyPr>
            <a:normAutofit/>
          </a:bodyPr>
          <a:lstStyle/>
          <a:p>
            <a:pPr algn="justLow">
              <a:buFont typeface="Wingdings" panose="05000000000000000000" pitchFamily="2" charset="2"/>
              <a:buChar char="v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It provides a systematic method of selecting mixtures of emulsifying agents to produce physically stable emulsions.</a:t>
            </a:r>
          </a:p>
          <a:p>
            <a:pPr algn="justLow">
              <a:buFont typeface="Wingdings" panose="05000000000000000000" pitchFamily="2" charset="2"/>
              <a:buChar char="v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The higher surfactant HLB value, the more hydrophilic it is.</a:t>
            </a:r>
          </a:p>
          <a:p>
            <a:pPr algn="justLow">
              <a:buFont typeface="Wingdings" panose="05000000000000000000" pitchFamily="2" charset="2"/>
              <a:buChar char="v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The lower surfactant HLB value, the more lipophilic it is</a:t>
            </a:r>
          </a:p>
          <a:p>
            <a:pPr algn="justLow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106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990600"/>
            <a:ext cx="7162800" cy="95410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Determination of the Required HLB values and Blending of Surfactants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2438400"/>
            <a:ext cx="89916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Oils used in the formulation of emulsions require a certain HLB value to be formulated as w/o emulsion or o/w emulsion.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For the same oil, the required HLB value for O/W emulsion is higher than the required HLB value for W/O emulsion 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98900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0600" y="914400"/>
            <a:ext cx="7467600" cy="1077218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 of the required HLB for a mixture of oils, fats or waxes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2342152"/>
            <a:ext cx="8839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1. Total oily phase.</a:t>
            </a:r>
          </a:p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2. %fraction of each ingredient</a:t>
            </a:r>
          </a:p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3. Multiply the required HLB of each ingredient by its fraction from the total oily phase.</a:t>
            </a:r>
          </a:p>
          <a:p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4. Add the obtained values to get the total required HLB for the whole oily phase.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185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66800" y="891614"/>
            <a:ext cx="6629400" cy="923330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Problem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A6B88-E633-6D5A-7DB1-5F40DE382BF9}"/>
              </a:ext>
            </a:extLst>
          </p:cNvPr>
          <p:cNvSpPr/>
          <p:nvPr/>
        </p:nvSpPr>
        <p:spPr>
          <a:xfrm>
            <a:off x="228600" y="2743200"/>
            <a:ext cx="838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Liquid paraffin                                35%              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Wool fat                                           1%</a:t>
            </a:r>
          </a:p>
          <a:p>
            <a:r>
              <a:rPr lang="en-US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Cetyl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alcohol                                   1%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Emulsifier system                           7% </a:t>
            </a:r>
          </a:p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Water to                                            100%</a:t>
            </a:r>
          </a:p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E54AFF-B274-369F-DD8B-749DCDD0FE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33800" y="2590800"/>
            <a:ext cx="1956986" cy="1905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1093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914400"/>
            <a:ext cx="89154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i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endParaRPr lang="en-US" sz="3200" b="1" i="1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i="1" u="sng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total percentage of the oily phase is 37 and the proportion of each is: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Liquid paraffin 35/37 x 100 = 94.6%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Wool fat 1/37 x 100 = 2.7%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Cetyl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alcohol 1/37 x 100 = 2.7%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i="1" u="sng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The total required HLB number is obtained as follows: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Liquid paraffin (HLB 10.5) =94.6/100 X 10.5 = 9.93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Wool fat (HLB 10) =2.7/100 x 10 = 0.3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Cetyl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alcohol (HLB 15) =2.7/100 X 15 = 0.4</a:t>
            </a:r>
          </a:p>
          <a:p>
            <a:r>
              <a:rPr lang="en-US" sz="24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 required HLB = 10.63</a:t>
            </a:r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11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97527" y="761999"/>
            <a:ext cx="7162800" cy="83099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Calculation of ratio of emulsifier to produce </a:t>
            </a:r>
            <a:r>
              <a:rPr lang="en-US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aparticular</a:t>
            </a: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 required HLB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2286000"/>
            <a:ext cx="88392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HLB of the mixture of surfactants, consisting of fraction x of A and (1-x) of B is assumed to be the algebraic mean of the two HLB numbers, 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HLB mixture= x HLB </a:t>
            </a:r>
            <a:r>
              <a:rPr lang="en-US" sz="1400" b="1" dirty="0">
                <a:solidFill>
                  <a:schemeClr val="accent1"/>
                </a:solidFill>
              </a:rPr>
              <a:t>(A</a:t>
            </a:r>
            <a:r>
              <a:rPr lang="en-US" sz="1600" b="1" dirty="0">
                <a:solidFill>
                  <a:schemeClr val="accent1"/>
                </a:solidFill>
              </a:rPr>
              <a:t>)</a:t>
            </a:r>
            <a:r>
              <a:rPr lang="en-US" sz="2400" b="1" dirty="0">
                <a:solidFill>
                  <a:schemeClr val="accent1"/>
                </a:solidFill>
              </a:rPr>
              <a:t>+ (1-x) HLB</a:t>
            </a:r>
            <a:r>
              <a:rPr lang="en-US" sz="1600" b="1" dirty="0">
                <a:solidFill>
                  <a:schemeClr val="accent1"/>
                </a:solidFill>
              </a:rPr>
              <a:t>(B)</a:t>
            </a:r>
          </a:p>
          <a:p>
            <a:r>
              <a:rPr lang="en-US" sz="2400" b="1" dirty="0"/>
              <a:t>Rearrangement the above equation in percent (%) form will be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A = 100 (</a:t>
            </a:r>
            <a:r>
              <a:rPr lang="en-US" sz="2800" b="1" dirty="0">
                <a:solidFill>
                  <a:srgbClr val="FF0000"/>
                </a:solidFill>
              </a:rPr>
              <a:t>X</a:t>
            </a:r>
            <a:r>
              <a:rPr lang="en-US" sz="2400" b="1" dirty="0">
                <a:solidFill>
                  <a:schemeClr val="accent1"/>
                </a:solidFill>
              </a:rPr>
              <a:t>-HLB)</a:t>
            </a:r>
            <a:r>
              <a:rPr lang="en-US" b="1" dirty="0">
                <a:solidFill>
                  <a:schemeClr val="accent1"/>
                </a:solidFill>
              </a:rPr>
              <a:t>B</a:t>
            </a:r>
            <a:r>
              <a:rPr lang="en-US" sz="2400" b="1" dirty="0">
                <a:solidFill>
                  <a:schemeClr val="accent1"/>
                </a:solidFill>
              </a:rPr>
              <a:t>/ (HLB)</a:t>
            </a:r>
            <a:r>
              <a:rPr lang="en-US" sz="1600" b="1" dirty="0">
                <a:solidFill>
                  <a:schemeClr val="accent1"/>
                </a:solidFill>
              </a:rPr>
              <a:t>A</a:t>
            </a:r>
            <a:r>
              <a:rPr lang="en-US" sz="2400" b="1" dirty="0">
                <a:solidFill>
                  <a:schemeClr val="accent1"/>
                </a:solidFill>
              </a:rPr>
              <a:t>– (HLB)</a:t>
            </a:r>
            <a:r>
              <a:rPr lang="en-US" sz="1600" b="1" dirty="0">
                <a:solidFill>
                  <a:schemeClr val="accent1"/>
                </a:solidFill>
              </a:rPr>
              <a:t>B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B = 100 – A</a:t>
            </a:r>
          </a:p>
          <a:p>
            <a:r>
              <a:rPr lang="en-US" sz="2400" b="1" dirty="0"/>
              <a:t>Where </a:t>
            </a:r>
            <a:r>
              <a:rPr lang="en-US" sz="2400" b="1" dirty="0">
                <a:solidFill>
                  <a:srgbClr val="FF0000"/>
                </a:solidFill>
              </a:rPr>
              <a:t>X </a:t>
            </a:r>
            <a:r>
              <a:rPr lang="en-US" sz="2400" b="1" dirty="0"/>
              <a:t>is the required HLB of the surfactant (oil) mixture, </a:t>
            </a:r>
            <a:r>
              <a:rPr lang="en-US" sz="2400" b="1" dirty="0">
                <a:solidFill>
                  <a:srgbClr val="FF0000"/>
                </a:solidFill>
              </a:rPr>
              <a:t>B </a:t>
            </a:r>
            <a:r>
              <a:rPr lang="en-US" sz="2400" b="1" dirty="0"/>
              <a:t>is Lower 𝐇𝐋𝐁 </a:t>
            </a:r>
            <a:r>
              <a:rPr lang="en-US" sz="2400" b="1" dirty="0">
                <a:solidFill>
                  <a:srgbClr val="FF0000"/>
                </a:solidFill>
              </a:rPr>
              <a:t> and A </a:t>
            </a:r>
            <a:r>
              <a:rPr lang="en-US" sz="2400" b="1" dirty="0"/>
              <a:t>is 𝐇𝐢𝐠𝐡𝐞𝐫 𝐇𝐋𝐁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5998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57200" y="1371600"/>
                <a:ext cx="8534400" cy="380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 </a:t>
                </a:r>
                <a:r>
                  <a:rPr lang="en-US" sz="2800" b="1" dirty="0">
                    <a:solidFill>
                      <a:srgbClr val="FF0000"/>
                    </a:solidFill>
                    <a:latin typeface="Cambria Math"/>
                  </a:rPr>
                  <a:t>The previous equation can also be expressed as:  </a:t>
                </a:r>
              </a:p>
              <a:p>
                <a:endParaRPr lang="en-US" sz="2400" i="0" dirty="0">
                  <a:solidFill>
                    <a:srgbClr val="FF0000"/>
                  </a:solidFill>
                  <a:latin typeface="Arial Black" panose="020B0A040201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  % 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𝐎𝐟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𝐒𝐀𝐀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𝐖𝐢𝐭𝐡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𝐇𝐢𝐠𝐡𝐞𝐫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𝐇𝐋𝐁</m:t>
                    </m:r>
                    <m:r>
                      <a:rPr lang="en-US" sz="2800" b="1" i="0" smtClean="0">
                        <a:solidFill>
                          <a:schemeClr val="accent1"/>
                        </a:solidFill>
                        <a:latin typeface="Cambria Math"/>
                      </a:rPr>
                      <m:t>=</m:t>
                    </m:r>
                  </m:oMath>
                </a14:m>
                <a:endParaRPr lang="en-US" sz="2800" b="1" dirty="0">
                  <a:solidFill>
                    <a:schemeClr val="accent1"/>
                  </a:solidFill>
                  <a:latin typeface="Cambria Math"/>
                </a:endParaRPr>
              </a:p>
              <a:p>
                <a:endParaRPr lang="en-US" b="1" i="1" dirty="0">
                  <a:solidFill>
                    <a:schemeClr val="accent1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𝟏𝟎𝟎</m:t>
                          </m:r>
                          <m:d>
                            <m:dPr>
                              <m:ctrlPr>
                                <a:rPr lang="en-US" sz="28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𝒓𝒆𝒒𝒖𝒊𝒓𝒆𝒅𝑯𝑳𝑩</m:t>
                              </m:r>
                              <m:r>
                                <a:rPr lang="en-US" sz="2800" b="1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800" b="1" i="1" smtClean="0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𝑳𝒐𝒘𝒆𝒓𝑯𝑳𝑩</m:t>
                              </m:r>
                            </m:e>
                          </m:d>
                        </m:num>
                        <m:den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𝑯𝒊𝒈𝒉𝒆𝒓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𝑯𝑳𝑩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 −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𝒍𝒐𝒘𝒆𝒓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𝑯𝑳𝑩</m:t>
                          </m:r>
                          <m:r>
                            <a:rPr lang="en-US" sz="2800" b="1" i="1" smtClean="0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1" dirty="0"/>
              </a:p>
              <a:p>
                <a:endParaRPr lang="en-US" sz="2800" b="1" dirty="0"/>
              </a:p>
              <a:p>
                <a:endParaRPr lang="en-US" sz="2800" b="1" dirty="0"/>
              </a:p>
              <a:p>
                <a:endParaRPr lang="en-US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71600"/>
                <a:ext cx="8534400" cy="3805722"/>
              </a:xfrm>
              <a:prstGeom prst="rect">
                <a:avLst/>
              </a:prstGeom>
              <a:blipFill>
                <a:blip r:embed="rId4"/>
                <a:stretch>
                  <a:fillRect l="-429" t="-1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57200" y="4191000"/>
            <a:ext cx="8686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1"/>
                </a:solidFill>
                <a:latin typeface="Cambria Math"/>
              </a:rPr>
              <a:t>% of SAA of lower 𝐻𝐿𝐵 = 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sz="2800" b="1" i="1" dirty="0">
                <a:solidFill>
                  <a:schemeClr val="accent1"/>
                </a:solidFill>
                <a:latin typeface="Cambria Math"/>
              </a:rPr>
              <a:t>         100 -   % of SAA of higher HLB</a:t>
            </a:r>
          </a:p>
        </p:txBody>
      </p:sp>
    </p:spTree>
    <p:extLst>
      <p:ext uri="{BB962C8B-B14F-4D97-AF65-F5344CB8AC3E}">
        <p14:creationId xmlns:p14="http://schemas.microsoft.com/office/powerpoint/2010/main" val="328153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228600" y="685800"/>
                <a:ext cx="8915400" cy="62497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4800" b="1" i="1" u="sng" dirty="0">
                    <a:solidFill>
                      <a:schemeClr val="bg1"/>
                    </a:solidFill>
                  </a:rPr>
                  <a:t>Problem 2</a:t>
                </a:r>
              </a:p>
              <a:p>
                <a:endParaRPr lang="en-US" sz="2800" b="1" i="1" u="sng" dirty="0">
                  <a:solidFill>
                    <a:schemeClr val="accent1"/>
                  </a:solidFill>
                </a:endParaRPr>
              </a:p>
              <a:p>
                <a:endParaRPr lang="en-US" dirty="0"/>
              </a:p>
              <a:p>
                <a:r>
                  <a:rPr lang="en-US" sz="2400" b="1" dirty="0"/>
                  <a:t>A mixture of two surface active agents having an HLB value of 13.5, calculate the percent of each if it consists of Brij35 (HLB 16.9) and span80 (HLB 4.3).</a:t>
                </a:r>
              </a:p>
              <a:p>
                <a:r>
                  <a:rPr lang="en-US" sz="2800" b="1" i="1" u="sng" dirty="0">
                    <a:solidFill>
                      <a:schemeClr val="accent1"/>
                    </a:solidFill>
                  </a:rPr>
                  <a:t>Solution</a:t>
                </a:r>
              </a:p>
              <a:p>
                <a:r>
                  <a:rPr lang="en-US" sz="2400" dirty="0"/>
                  <a:t>Assuming   A: Brij35 , B: span 80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A = </a:t>
                </a:r>
                <a14:m>
                  <m:oMath xmlns:m="http://schemas.openxmlformats.org/officeDocument/2006/math">
                    <m:r>
                      <a:rPr lang="en-US" sz="2000" b="1">
                        <a:solidFill>
                          <a:schemeClr val="accent1"/>
                        </a:solidFill>
                        <a:latin typeface="Cambria Math"/>
                      </a:rPr>
                      <m:t>% 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𝐎𝐟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𝐒𝐀𝐀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𝐖𝐢𝐭𝐡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𝐇𝐢𝐠𝐡𝐞𝐫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𝐇𝐋𝐁</m:t>
                    </m:r>
                    <m:r>
                      <a:rPr lang="en-US" sz="2000" b="1" smtClean="0">
                        <a:solidFill>
                          <a:schemeClr val="accent1"/>
                        </a:solidFill>
                        <a:latin typeface="Cambria Math"/>
                      </a:rPr>
                      <m:t>=</m:t>
                    </m:r>
                  </m:oMath>
                </a14:m>
                <a:endParaRPr lang="en-US" sz="2400" b="1" i="1" dirty="0">
                  <a:solidFill>
                    <a:schemeClr val="accent1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𝟏𝟎𝟎</m:t>
                          </m:r>
                          <m:d>
                            <m:dPr>
                              <m:ctrlP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𝒓𝒆𝒒𝒖𝒊𝒓𝒆𝒅𝑯𝑳𝑩</m:t>
                              </m:r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chemeClr val="accent1"/>
                                  </a:solidFill>
                                  <a:latin typeface="Cambria Math"/>
                                </a:rPr>
                                <m:t>𝑳𝒐𝒘𝒆𝒓𝑯𝑳𝑩</m:t>
                              </m:r>
                            </m:e>
                          </m:d>
                        </m:num>
                        <m:den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𝑯𝒊𝒈𝒉𝒆𝒓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𝑯𝑳𝑩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 −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𝒍𝒐𝒘𝒆𝒓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𝑯𝑳𝑩</m:t>
                          </m:r>
                          <m:r>
                            <a:rPr lang="en-US" b="1" i="1">
                              <a:solidFill>
                                <a:schemeClr val="accent1"/>
                              </a:solidFill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r>
                  <a:rPr lang="en-US" sz="2400" dirty="0"/>
                  <a:t>A = 100 (13.5 – 4.3) / (16.9 – 4.3)</a:t>
                </a:r>
              </a:p>
              <a:p>
                <a:r>
                  <a:rPr lang="en-US" sz="2400" dirty="0"/>
                  <a:t>A = 920 / 12.6</a:t>
                </a:r>
              </a:p>
              <a:p>
                <a:r>
                  <a:rPr lang="en-US" sz="2400" dirty="0">
                    <a:highlight>
                      <a:srgbClr val="FFFF00"/>
                    </a:highlight>
                  </a:rPr>
                  <a:t>A = 73.01 %</a:t>
                </a:r>
              </a:p>
              <a:p>
                <a:r>
                  <a:rPr lang="en-US" sz="2400" dirty="0"/>
                  <a:t>B = 100 – A</a:t>
                </a:r>
              </a:p>
              <a:p>
                <a:r>
                  <a:rPr lang="en-US" sz="2400" b="1" dirty="0">
                    <a:highlight>
                      <a:srgbClr val="FFFF00"/>
                    </a:highlight>
                  </a:rPr>
                  <a:t>B = 100 – 73.01                                      B = 26.98 %</a:t>
                </a: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685800"/>
                <a:ext cx="8915400" cy="6249788"/>
              </a:xfrm>
              <a:prstGeom prst="rect">
                <a:avLst/>
              </a:prstGeom>
              <a:blipFill>
                <a:blip r:embed="rId3"/>
                <a:stretch>
                  <a:fillRect l="-1436" t="-2341" r="-205" b="-1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9075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990600"/>
            <a:ext cx="8534400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Calculation of HLB of  a mixture of Two Or More SAA :</a:t>
            </a:r>
          </a:p>
          <a:p>
            <a:endParaRPr lang="en-US" sz="2400" b="1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HLB Mix = (  Fraction of Surfactant A  X HLB of Surfactant A ) +( Fraction of Surfactant  B  X HLB of Surfactant B )  + ( ………………………</a:t>
            </a:r>
            <a:r>
              <a:rPr lang="en-US" sz="32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..)</a:t>
            </a:r>
          </a:p>
        </p:txBody>
      </p:sp>
    </p:spTree>
    <p:extLst>
      <p:ext uri="{BB962C8B-B14F-4D97-AF65-F5344CB8AC3E}">
        <p14:creationId xmlns:p14="http://schemas.microsoft.com/office/powerpoint/2010/main" val="3166781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685800"/>
            <a:ext cx="89916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i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3</a:t>
            </a:r>
          </a:p>
          <a:p>
            <a:endParaRPr lang="en-US" sz="2800" b="1" i="1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b="1" i="1" u="sng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What is the HLB value of a surfactant blend consisting of 20% tween20 (HLB 16.7), 30% span20 (HLB 8.6) and 50% span80 (HLB 4.3).</a:t>
            </a:r>
          </a:p>
          <a:p>
            <a:r>
              <a:rPr lang="en-US" sz="2800" b="1" i="1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Assuming   A: tween 20 , B: span 20 and 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C: span80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HLB mixture = fraction of A HLB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 fraction of B HLB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+ fraction of C HLB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= (0.2 x 16.7) + (0.3 x 8.6) + (0.5 x 4.3) </a:t>
            </a:r>
            <a:r>
              <a:rPr lang="en-US" sz="28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=   8.07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74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41" t="37670" r="4294" b="19176"/>
          <a:stretch/>
        </p:blipFill>
        <p:spPr bwMode="auto">
          <a:xfrm>
            <a:off x="304800" y="304800"/>
            <a:ext cx="8686800" cy="632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846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00" r="2332" b="51786"/>
          <a:stretch/>
        </p:blipFill>
        <p:spPr bwMode="auto">
          <a:xfrm>
            <a:off x="304800" y="228600"/>
            <a:ext cx="8686800" cy="2362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 t="51081" r="3677" b="24378"/>
          <a:stretch/>
        </p:blipFill>
        <p:spPr bwMode="auto">
          <a:xfrm>
            <a:off x="152400" y="2743200"/>
            <a:ext cx="8991600" cy="3886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6655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709" y="34636"/>
            <a:ext cx="9122735" cy="670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60105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30.9|1|0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73|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|0.7|91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|8.6|0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2|0.6|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1|0.7|43.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1_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494</TotalTime>
  <Words>803</Words>
  <Application>Microsoft Office PowerPoint</Application>
  <PresentationFormat>On-screen Show (4:3)</PresentationFormat>
  <Paragraphs>85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Ion Boardroom</vt:lpstr>
      <vt:lpstr>1_Ion Boardroom</vt:lpstr>
      <vt:lpstr>Physical Pharmacy  Lab 6 CPT 203/PT 203</vt:lpstr>
      <vt:lpstr>PowerPoint Presentation</vt:lpstr>
      <vt:lpstr>PowerPoint Presentation</vt:lpstr>
      <vt:lpstr>Surface active agent (Surfactants)</vt:lpstr>
      <vt:lpstr>Hydrophilic-Lipophilic Balance (HLB)</vt:lpstr>
      <vt:lpstr>HLB Griffin`s Scale</vt:lpstr>
      <vt:lpstr>PowerPoint Presentation</vt:lpstr>
      <vt:lpstr>Aim of HLB Griffinˊs Scale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asmaa samy</dc:creator>
  <cp:lastModifiedBy>Asmaa Samy Mesalhy Omara</cp:lastModifiedBy>
  <cp:revision>38</cp:revision>
  <dcterms:created xsi:type="dcterms:W3CDTF">2021-04-23T01:23:01Z</dcterms:created>
  <dcterms:modified xsi:type="dcterms:W3CDTF">2026-03-13T10:52:39Z</dcterms:modified>
</cp:coreProperties>
</file>