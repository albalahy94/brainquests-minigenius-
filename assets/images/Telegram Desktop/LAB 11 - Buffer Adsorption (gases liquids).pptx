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0" r:id="rId1"/>
    <p:sldMasterId id="2147483752" r:id="rId2"/>
  </p:sldMasterIdLst>
  <p:notesMasterIdLst>
    <p:notesMasterId r:id="rId26"/>
  </p:notesMasterIdLst>
  <p:sldIdLst>
    <p:sldId id="480" r:id="rId3"/>
    <p:sldId id="291" r:id="rId4"/>
    <p:sldId id="293" r:id="rId5"/>
    <p:sldId id="267" r:id="rId6"/>
    <p:sldId id="259" r:id="rId7"/>
    <p:sldId id="261" r:id="rId8"/>
    <p:sldId id="258" r:id="rId9"/>
    <p:sldId id="262" r:id="rId10"/>
    <p:sldId id="264" r:id="rId11"/>
    <p:sldId id="273" r:id="rId12"/>
    <p:sldId id="266" r:id="rId13"/>
    <p:sldId id="484" r:id="rId14"/>
    <p:sldId id="274" r:id="rId15"/>
    <p:sldId id="279" r:id="rId16"/>
    <p:sldId id="485" r:id="rId17"/>
    <p:sldId id="486" r:id="rId18"/>
    <p:sldId id="487" r:id="rId19"/>
    <p:sldId id="492" r:id="rId20"/>
    <p:sldId id="488" r:id="rId21"/>
    <p:sldId id="489" r:id="rId22"/>
    <p:sldId id="490" r:id="rId23"/>
    <p:sldId id="491" r:id="rId24"/>
    <p:sldId id="473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46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 /><Relationship Id="rId13" Type="http://schemas.openxmlformats.org/officeDocument/2006/relationships/slide" Target="slides/slide11.xml" /><Relationship Id="rId18" Type="http://schemas.openxmlformats.org/officeDocument/2006/relationships/slide" Target="slides/slide16.xml" /><Relationship Id="rId26" Type="http://schemas.openxmlformats.org/officeDocument/2006/relationships/notesMaster" Target="notesMasters/notesMaster1.xml" /><Relationship Id="rId3" Type="http://schemas.openxmlformats.org/officeDocument/2006/relationships/slide" Target="slides/slide1.xml" /><Relationship Id="rId21" Type="http://schemas.openxmlformats.org/officeDocument/2006/relationships/slide" Target="slides/slide19.xml" /><Relationship Id="rId7" Type="http://schemas.openxmlformats.org/officeDocument/2006/relationships/slide" Target="slides/slide5.xml" /><Relationship Id="rId12" Type="http://schemas.openxmlformats.org/officeDocument/2006/relationships/slide" Target="slides/slide10.xml" /><Relationship Id="rId17" Type="http://schemas.openxmlformats.org/officeDocument/2006/relationships/slide" Target="slides/slide15.xml" /><Relationship Id="rId25" Type="http://schemas.openxmlformats.org/officeDocument/2006/relationships/slide" Target="slides/slide23.xml" /><Relationship Id="rId2" Type="http://schemas.openxmlformats.org/officeDocument/2006/relationships/slideMaster" Target="slideMasters/slideMaster2.xml" /><Relationship Id="rId16" Type="http://schemas.openxmlformats.org/officeDocument/2006/relationships/slide" Target="slides/slide14.xml" /><Relationship Id="rId20" Type="http://schemas.openxmlformats.org/officeDocument/2006/relationships/slide" Target="slides/slide18.xml" /><Relationship Id="rId29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4.xml" /><Relationship Id="rId11" Type="http://schemas.openxmlformats.org/officeDocument/2006/relationships/slide" Target="slides/slide9.xml" /><Relationship Id="rId24" Type="http://schemas.openxmlformats.org/officeDocument/2006/relationships/slide" Target="slides/slide22.xml" /><Relationship Id="rId5" Type="http://schemas.openxmlformats.org/officeDocument/2006/relationships/slide" Target="slides/slide3.xml" /><Relationship Id="rId15" Type="http://schemas.openxmlformats.org/officeDocument/2006/relationships/slide" Target="slides/slide13.xml" /><Relationship Id="rId23" Type="http://schemas.openxmlformats.org/officeDocument/2006/relationships/slide" Target="slides/slide21.xml" /><Relationship Id="rId28" Type="http://schemas.openxmlformats.org/officeDocument/2006/relationships/viewProps" Target="viewProps.xml" /><Relationship Id="rId10" Type="http://schemas.openxmlformats.org/officeDocument/2006/relationships/slide" Target="slides/slide8.xml" /><Relationship Id="rId19" Type="http://schemas.openxmlformats.org/officeDocument/2006/relationships/slide" Target="slides/slide17.xml" /><Relationship Id="rId4" Type="http://schemas.openxmlformats.org/officeDocument/2006/relationships/slide" Target="slides/slide2.xml" /><Relationship Id="rId9" Type="http://schemas.openxmlformats.org/officeDocument/2006/relationships/slide" Target="slides/slide7.xml" /><Relationship Id="rId14" Type="http://schemas.openxmlformats.org/officeDocument/2006/relationships/slide" Target="slides/slide12.xml" /><Relationship Id="rId22" Type="http://schemas.openxmlformats.org/officeDocument/2006/relationships/slide" Target="slides/slide20.xml" /><Relationship Id="rId27" Type="http://schemas.openxmlformats.org/officeDocument/2006/relationships/presProps" Target="presProps.xml" /><Relationship Id="rId30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243036-ED70-4D2A-9642-CA1CF2765D8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29CDCD-1B39-4316-AF12-71C7EEC6B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042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E9BC6A-20E7-4BBB-BA80-8502E0764EC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3334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Adsorption generally decreases with high temperatures ,because it is an exothermic process (releases heat) and increasing temperature provides enough energy for the adsorbed molecules to escape the surface, a process known as desorption.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29CDCD-1B39-4316-AF12-71C7EEC6B2D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2693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 :Adsorption Capacity :</a:t>
            </a:r>
          </a:p>
          <a:p>
            <a:r>
              <a:rPr lang="en-US" dirty="0"/>
              <a:t>Higher k indicates a higher amount of solute can be adsorbed per unit mass.</a:t>
            </a:r>
          </a:p>
          <a:p>
            <a:r>
              <a:rPr lang="en-US" dirty="0"/>
              <a:t>1/n: Adsorption Intensity:</a:t>
            </a:r>
          </a:p>
          <a:p>
            <a:r>
              <a:rPr lang="en-US" dirty="0"/>
              <a:t>Measures how strongly the adsorbate is bound and whether the process is favorable.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29CDCD-1B39-4316-AF12-71C7EEC6B2D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48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8E4F5-BB6D-2810-CE09-EF6BA86C8E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8898C0-C4A8-D117-FBC9-743D1ECF08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B68F2-59AF-A0AA-C792-12E4C39C3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846EE-0407-4E23-8960-981DF1D824A4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D65177-5565-CC0F-BA9F-B346CF3FE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859E9-5C8F-0D66-6074-4D0C7D695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EF06B-19A1-4A53-A7A1-09CAE1A2C9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862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03C57-7FF5-442C-FAF2-AEBC06FB2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BA2A3-3949-C0AE-138F-0D0553853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3106D-8999-867C-665A-45632862A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846EE-0407-4E23-8960-981DF1D824A4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8FF21-F907-C0CF-46EC-586C55A1B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D38DB-94D4-83C2-0633-149EB4A27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EF06B-19A1-4A53-A7A1-09CAE1A2C9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85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4EAC3-A2AD-8100-2934-5EBBCF451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3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068B4A-A3E1-81FB-E069-07B7D9703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8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97FA3-DAA8-5563-6BEB-1D2D587E0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846EE-0407-4E23-8960-981DF1D824A4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FE254-D507-7A1A-47D4-0438CDE3A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E70CE-61D1-8021-F884-25534BB03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EF06B-19A1-4A53-A7A1-09CAE1A2C9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4C696-BBF4-C5AF-1724-A0D880B48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A71AC-0938-FB43-AA0C-96914F6BE1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EBBFF2-E782-7651-0EFD-37679C367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938EDC-3535-A00E-7F5C-1885945A9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846EE-0407-4E23-8960-981DF1D824A4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22737A-66E0-C705-7D2F-BD09FB49D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032719-C61D-E4EF-D623-8F619306A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EF06B-19A1-4A53-A7A1-09CAE1A2C9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03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40B06-D8B0-3D24-5833-B695C698D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9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32F58-15EC-3654-45FA-A0AF020F6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33D93C-D329-B6E4-BB33-CA3D28B270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DB03DD-1FEC-9D25-56B6-7FAA293604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8B2240-E16B-5C1D-FE78-4000698F20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2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91AA56-3B8F-91C1-B688-7E1D90265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846EE-0407-4E23-8960-981DF1D824A4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7A58A5-CEFF-DD6D-2759-E7605AA38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7F7FBE-9423-E0C9-EA4E-5A0633C54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EF06B-19A1-4A53-A7A1-09CAE1A2C9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881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10F0E-2A37-9E8A-8577-37BBE4358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DAB24F-8B1A-D389-3720-822DFA3AB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846EE-0407-4E23-8960-981DF1D824A4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8578FA-783B-934A-3E4F-15268E118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2CF313-6D79-3FC5-C985-49C6E141B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EF06B-19A1-4A53-A7A1-09CAE1A2C9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657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A57D6E-D9F4-E4AC-0726-35B305C3C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846EE-0407-4E23-8960-981DF1D824A4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21F52D-91F4-AC1F-A6C5-3DE19E612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AB7C9E-76D5-387C-76E1-2A167EDC0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EF06B-19A1-4A53-A7A1-09CAE1A2C9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408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08CC-0968-A223-8FD1-B8E46B9DF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C760C-C4DB-AF18-8265-D08B30104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30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7C4117-312C-25C8-B8C0-B543C44C04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EEEB9B-390A-73A9-0F78-5132065CF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846EE-0407-4E23-8960-981DF1D824A4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9853EF-CE46-C4A2-1D27-E083E12A0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D6B4CD-FB04-9B3C-D5B6-AA1D5A71D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EF06B-19A1-4A53-A7A1-09CAE1A2C9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406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961B3-6655-B2CD-3DA9-2F948945F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FE265A-BE96-E599-3072-CC78011BC0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30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E10858-0C4C-BA8C-0EB6-9CF9D5A163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F1DF-E171-753B-B05B-8D56D3EB6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846EE-0407-4E23-8960-981DF1D824A4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188B2B-93F4-AB7F-7E82-172B6808A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FE2F12-87EC-99C0-F8C2-C96D0952A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EF06B-19A1-4A53-A7A1-09CAE1A2C9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960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6275A-5BE8-EFBD-4EEF-7D5B912B8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DA88E0-CE28-6F9F-A0E6-E31E2ECC56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69402-E942-94D6-5820-C0B422678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846EE-0407-4E23-8960-981DF1D824A4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EB3A4-32F0-8A62-1AF9-02A1A37C5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F5B7D-BC08-F475-7FDA-E13D667F5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EF06B-19A1-4A53-A7A1-09CAE1A2C9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56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97E0C6-4E58-C3AD-B392-90E75AFF46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8BB362-17CC-AED7-9147-C9E123EBBC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2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7EF7F-9153-68D3-25AC-ACB1D4288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846EE-0407-4E23-8960-981DF1D824A4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46983-9FF8-39F1-A88C-9C617F030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2D6CB-A073-674B-6F38-262C4F13B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EF06B-19A1-4A53-A7A1-09CAE1A2C9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442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5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3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4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5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6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8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5" y="4321162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3"/>
            <a:ext cx="584978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741813"/>
      </p:ext>
    </p:extLst>
  </p:cSld>
  <p:clrMapOvr>
    <a:masterClrMapping/>
  </p:clrMapOvr>
  <p:transition>
    <p:wipe dir="d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2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6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738925"/>
      </p:ext>
    </p:extLst>
  </p:cSld>
  <p:clrMapOvr>
    <a:masterClrMapping/>
  </p:clrMapOvr>
  <p:transition>
    <p:wipe dir="d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6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0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3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4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5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65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7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86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8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9" y="3244143"/>
            <a:ext cx="584978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401891"/>
      </p:ext>
    </p:extLst>
  </p:cSld>
  <p:clrMapOvr>
    <a:masterClrMapping/>
  </p:clrMapOvr>
  <p:transition>
    <p:wipe dir="d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7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11" y="2136707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9" y="787783"/>
            <a:ext cx="584978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609808"/>
      </p:ext>
    </p:extLst>
  </p:cSld>
  <p:clrMapOvr>
    <a:masterClrMapping/>
  </p:clrMapOvr>
  <p:transition>
    <p:wipe dir="d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108" indent="0">
              <a:buNone/>
              <a:defRPr sz="2000" b="1"/>
            </a:lvl2pPr>
            <a:lvl3pPr marL="914218" indent="0">
              <a:buNone/>
              <a:defRPr sz="1800" b="1"/>
            </a:lvl3pPr>
            <a:lvl4pPr marL="1371327" indent="0">
              <a:buNone/>
              <a:defRPr sz="1600" b="1"/>
            </a:lvl4pPr>
            <a:lvl5pPr marL="1828436" indent="0">
              <a:buNone/>
              <a:defRPr sz="1600" b="1"/>
            </a:lvl5pPr>
            <a:lvl6pPr marL="2285543" indent="0">
              <a:buNone/>
              <a:defRPr sz="1600" b="1"/>
            </a:lvl6pPr>
            <a:lvl7pPr marL="2742652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8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9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108" indent="0">
              <a:buNone/>
              <a:defRPr sz="2000" b="1"/>
            </a:lvl2pPr>
            <a:lvl3pPr marL="914218" indent="0">
              <a:buNone/>
              <a:defRPr sz="1800" b="1"/>
            </a:lvl3pPr>
            <a:lvl4pPr marL="1371327" indent="0">
              <a:buNone/>
              <a:defRPr sz="1600" b="1"/>
            </a:lvl4pPr>
            <a:lvl5pPr marL="1828436" indent="0">
              <a:buNone/>
              <a:defRPr sz="1600" b="1"/>
            </a:lvl5pPr>
            <a:lvl6pPr marL="2285543" indent="0">
              <a:buNone/>
              <a:defRPr sz="1600" b="1"/>
            </a:lvl6pPr>
            <a:lvl7pPr marL="2742652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8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9" y="787783"/>
            <a:ext cx="584978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495263"/>
      </p:ext>
    </p:extLst>
  </p:cSld>
  <p:clrMapOvr>
    <a:masterClrMapping/>
  </p:clrMapOvr>
  <p:transition>
    <p:wipe dir="d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298114"/>
      </p:ext>
    </p:extLst>
  </p:cSld>
  <p:clrMapOvr>
    <a:masterClrMapping/>
  </p:clrMapOvr>
  <p:transition>
    <p:wipe dir="d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893025"/>
      </p:ext>
    </p:extLst>
  </p:cSld>
  <p:clrMapOvr>
    <a:masterClrMapping/>
  </p:clrMapOvr>
  <p:transition>
    <p:wipe dir="d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5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108" indent="0">
              <a:buNone/>
              <a:defRPr sz="1200"/>
            </a:lvl2pPr>
            <a:lvl3pPr marL="914218" indent="0">
              <a:buNone/>
              <a:defRPr sz="1000"/>
            </a:lvl3pPr>
            <a:lvl4pPr marL="1371327" indent="0">
              <a:buNone/>
              <a:defRPr sz="900"/>
            </a:lvl4pPr>
            <a:lvl5pPr marL="1828436" indent="0">
              <a:buNone/>
              <a:defRPr sz="900"/>
            </a:lvl5pPr>
            <a:lvl6pPr marL="2285543" indent="0">
              <a:buNone/>
              <a:defRPr sz="900"/>
            </a:lvl6pPr>
            <a:lvl7pPr marL="2742652" indent="0">
              <a:buNone/>
              <a:defRPr sz="900"/>
            </a:lvl7pPr>
            <a:lvl8pPr marL="3199760" indent="0">
              <a:buNone/>
              <a:defRPr sz="900"/>
            </a:lvl8pPr>
            <a:lvl9pPr marL="3656868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688571"/>
      </p:ext>
    </p:extLst>
  </p:cSld>
  <p:clrMapOvr>
    <a:masterClrMapping/>
  </p:clrMapOvr>
  <p:transition>
    <p:wipe dir="d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6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08" indent="0">
              <a:buNone/>
              <a:defRPr sz="1600"/>
            </a:lvl2pPr>
            <a:lvl3pPr marL="914218" indent="0">
              <a:buNone/>
              <a:defRPr sz="1600"/>
            </a:lvl3pPr>
            <a:lvl4pPr marL="1371327" indent="0">
              <a:buNone/>
              <a:defRPr sz="1600"/>
            </a:lvl4pPr>
            <a:lvl5pPr marL="1828436" indent="0">
              <a:buNone/>
              <a:defRPr sz="1600"/>
            </a:lvl5pPr>
            <a:lvl6pPr marL="2285543" indent="0">
              <a:buNone/>
              <a:defRPr sz="1600"/>
            </a:lvl6pPr>
            <a:lvl7pPr marL="2742652" indent="0">
              <a:buNone/>
              <a:defRPr sz="1600"/>
            </a:lvl7pPr>
            <a:lvl8pPr marL="3199760" indent="0">
              <a:buNone/>
              <a:defRPr sz="1600"/>
            </a:lvl8pPr>
            <a:lvl9pPr marL="3656868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6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108" indent="0">
              <a:buNone/>
              <a:defRPr sz="1200"/>
            </a:lvl2pPr>
            <a:lvl3pPr marL="914218" indent="0">
              <a:buNone/>
              <a:defRPr sz="1000"/>
            </a:lvl3pPr>
            <a:lvl4pPr marL="1371327" indent="0">
              <a:buNone/>
              <a:defRPr sz="900"/>
            </a:lvl4pPr>
            <a:lvl5pPr marL="1828436" indent="0">
              <a:buNone/>
              <a:defRPr sz="900"/>
            </a:lvl5pPr>
            <a:lvl6pPr marL="2285543" indent="0">
              <a:buNone/>
              <a:defRPr sz="900"/>
            </a:lvl6pPr>
            <a:lvl7pPr marL="2742652" indent="0">
              <a:buNone/>
              <a:defRPr sz="900"/>
            </a:lvl7pPr>
            <a:lvl8pPr marL="3199760" indent="0">
              <a:buNone/>
              <a:defRPr sz="900"/>
            </a:lvl8pPr>
            <a:lvl9pPr marL="3656868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3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9" y="4983088"/>
            <a:ext cx="584978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414291"/>
      </p:ext>
    </p:extLst>
  </p:cSld>
  <p:clrMapOvr>
    <a:masterClrMapping/>
  </p:clrMapOvr>
  <p:transition>
    <p:wipe dir="d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6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0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3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4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5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65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7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86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8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9" y="3244143"/>
            <a:ext cx="584978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8736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7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08" indent="0">
              <a:buFontTx/>
              <a:buNone/>
              <a:defRPr/>
            </a:lvl2pPr>
            <a:lvl3pPr marL="914218" indent="0">
              <a:buFontTx/>
              <a:buNone/>
              <a:defRPr/>
            </a:lvl3pPr>
            <a:lvl4pPr marL="1371327" indent="0">
              <a:buFontTx/>
              <a:buNone/>
              <a:defRPr/>
            </a:lvl4pPr>
            <a:lvl5pPr marL="1828436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6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0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3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4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5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65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7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86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8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9" y="3244143"/>
            <a:ext cx="584978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7" y="648005"/>
            <a:ext cx="457319" cy="584776"/>
          </a:xfrm>
          <a:prstGeom prst="rect">
            <a:avLst/>
          </a:prstGeom>
        </p:spPr>
        <p:txBody>
          <a:bodyPr vert="horz" lIns="91421" tIns="45711" rIns="91421" bIns="45711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4" y="2905306"/>
            <a:ext cx="457319" cy="584776"/>
          </a:xfrm>
          <a:prstGeom prst="rect">
            <a:avLst/>
          </a:prstGeom>
        </p:spPr>
        <p:txBody>
          <a:bodyPr vert="horz" lIns="91421" tIns="45711" rIns="91421" bIns="45711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763869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2438403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6" y="5181600"/>
            <a:ext cx="6591985" cy="729622"/>
          </a:xfrm>
        </p:spPr>
        <p:txBody>
          <a:bodyPr vert="horz" lIns="91421" tIns="45711" rIns="91421" bIns="45711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3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9" y="4983088"/>
            <a:ext cx="584978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7462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7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108" indent="0">
              <a:buFontTx/>
              <a:buNone/>
              <a:defRPr/>
            </a:lvl2pPr>
            <a:lvl3pPr marL="914218" indent="0">
              <a:buFontTx/>
              <a:buNone/>
              <a:defRPr/>
            </a:lvl3pPr>
            <a:lvl4pPr marL="1371327" indent="0">
              <a:buFontTx/>
              <a:buNone/>
              <a:defRPr/>
            </a:lvl4pPr>
            <a:lvl5pPr marL="1828436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21" tIns="45711" rIns="91421" bIns="45711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3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9" y="4983088"/>
            <a:ext cx="584978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7" y="648005"/>
            <a:ext cx="457319" cy="584776"/>
          </a:xfrm>
          <a:prstGeom prst="rect">
            <a:avLst/>
          </a:prstGeom>
        </p:spPr>
        <p:txBody>
          <a:bodyPr vert="horz" lIns="91421" tIns="45711" rIns="91421" bIns="45711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4" y="2905306"/>
            <a:ext cx="457319" cy="584776"/>
          </a:xfrm>
          <a:prstGeom prst="rect">
            <a:avLst/>
          </a:prstGeom>
        </p:spPr>
        <p:txBody>
          <a:bodyPr vert="horz" lIns="91421" tIns="45711" rIns="91421" bIns="45711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33271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6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108" indent="0">
              <a:buFontTx/>
              <a:buNone/>
              <a:defRPr/>
            </a:lvl2pPr>
            <a:lvl3pPr marL="914218" indent="0">
              <a:buFontTx/>
              <a:buNone/>
              <a:defRPr/>
            </a:lvl3pPr>
            <a:lvl4pPr marL="1371327" indent="0">
              <a:buFontTx/>
              <a:buNone/>
              <a:defRPr/>
            </a:lvl4pPr>
            <a:lvl5pPr marL="1828436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6" y="5181600"/>
            <a:ext cx="6591985" cy="729622"/>
          </a:xfrm>
        </p:spPr>
        <p:txBody>
          <a:bodyPr vert="horz" lIns="91421" tIns="45711" rIns="91421" bIns="45711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3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9" y="4983088"/>
            <a:ext cx="584978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8000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019656"/>
      </p:ext>
    </p:extLst>
  </p:cSld>
  <p:clrMapOvr>
    <a:masterClrMapping/>
  </p:clrMapOvr>
  <p:transition>
    <p:wipe dir="d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7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7" y="627407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923620"/>
      </p:ext>
    </p:extLst>
  </p:cSld>
  <p:clrMapOvr>
    <a:masterClrMapping/>
  </p:clrMapOvr>
  <p:transition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 /><Relationship Id="rId13" Type="http://schemas.openxmlformats.org/officeDocument/2006/relationships/slideLayout" Target="../slideLayouts/slideLayout24.xml" /><Relationship Id="rId3" Type="http://schemas.openxmlformats.org/officeDocument/2006/relationships/slideLayout" Target="../slideLayouts/slideLayout14.xml" /><Relationship Id="rId7" Type="http://schemas.openxmlformats.org/officeDocument/2006/relationships/slideLayout" Target="../slideLayouts/slideLayout18.xml" /><Relationship Id="rId12" Type="http://schemas.openxmlformats.org/officeDocument/2006/relationships/slideLayout" Target="../slideLayouts/slideLayout23.xml" /><Relationship Id="rId17" Type="http://schemas.openxmlformats.org/officeDocument/2006/relationships/theme" Target="../theme/theme2.xml" /><Relationship Id="rId2" Type="http://schemas.openxmlformats.org/officeDocument/2006/relationships/slideLayout" Target="../slideLayouts/slideLayout13.xml" /><Relationship Id="rId16" Type="http://schemas.openxmlformats.org/officeDocument/2006/relationships/slideLayout" Target="../slideLayouts/slideLayout27.xml" /><Relationship Id="rId1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7.xml" /><Relationship Id="rId11" Type="http://schemas.openxmlformats.org/officeDocument/2006/relationships/slideLayout" Target="../slideLayouts/slideLayout22.xml" /><Relationship Id="rId5" Type="http://schemas.openxmlformats.org/officeDocument/2006/relationships/slideLayout" Target="../slideLayouts/slideLayout16.xml" /><Relationship Id="rId15" Type="http://schemas.openxmlformats.org/officeDocument/2006/relationships/slideLayout" Target="../slideLayouts/slideLayout26.xml" /><Relationship Id="rId10" Type="http://schemas.openxmlformats.org/officeDocument/2006/relationships/slideLayout" Target="../slideLayouts/slideLayout21.xml" /><Relationship Id="rId4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20.xml" /><Relationship Id="rId14" Type="http://schemas.openxmlformats.org/officeDocument/2006/relationships/slideLayout" Target="../slideLayouts/slideLayout25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AC8DE7-BE05-4C4A-1182-5785A18E1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4C2E2-1F1A-278B-4594-191108AD32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E9CEE-7A65-98F5-5A86-C8CF8D8AB4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B846EE-0407-4E23-8960-981DF1D824A4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D3C59-2BC1-5913-D772-555184CB55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3AAAA-97E5-2C3E-776E-F2DCE5A038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EF06B-19A1-4A53-A7A1-09CAE1A2C9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722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</p:sldLayoutIdLst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2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21" tIns="45711" rIns="91421" bIns="45711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6" y="2133600"/>
            <a:ext cx="6591985" cy="3886200"/>
          </a:xfrm>
          <a:prstGeom prst="rect">
            <a:avLst/>
          </a:prstGeom>
        </p:spPr>
        <p:txBody>
          <a:bodyPr vert="horz" lIns="91421" tIns="45711" rIns="91421" bIns="45711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93"/>
            <a:ext cx="766380" cy="370171"/>
          </a:xfrm>
          <a:prstGeom prst="rect">
            <a:avLst/>
          </a:prstGeom>
        </p:spPr>
        <p:txBody>
          <a:bodyPr vert="horz" lIns="91421" tIns="45711" rIns="91421" bIns="45711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21" tIns="45711" rIns="91421" bIns="45711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229" y="787783"/>
            <a:ext cx="584978" cy="365125"/>
          </a:xfrm>
          <a:prstGeom prst="rect">
            <a:avLst/>
          </a:prstGeom>
        </p:spPr>
        <p:txBody>
          <a:bodyPr vert="horz" lIns="91421" tIns="45711" rIns="91421" bIns="45711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513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  <p:sldLayoutId id="2147483765" r:id="rId13"/>
    <p:sldLayoutId id="2147483766" r:id="rId14"/>
    <p:sldLayoutId id="2147483767" r:id="rId15"/>
    <p:sldLayoutId id="2147483768" r:id="rId16"/>
  </p:sldLayoutIdLst>
  <p:transition>
    <p:wipe dir="d"/>
  </p:transition>
  <p:txStyles>
    <p:titleStyle>
      <a:lvl1pPr algn="l" defTabSz="457108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832" indent="-342832" algn="l" defTabSz="457108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802" indent="-285694" algn="l" defTabSz="457108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772" indent="-228554" algn="l" defTabSz="457108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599880" indent="-228554" algn="l" defTabSz="457108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6988" indent="-228554" algn="l" defTabSz="457108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096" indent="-228554" algn="l" defTabSz="457108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205" indent="-228554" algn="l" defTabSz="457108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8314" indent="-228554" algn="l" defTabSz="457108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5423" indent="-228554" algn="l" defTabSz="457108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0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8" algn="l" defTabSz="45710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8" algn="l" defTabSz="45710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7" algn="l" defTabSz="45710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6" algn="l" defTabSz="45710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45710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2" algn="l" defTabSz="45710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45710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8" algn="l" defTabSz="45710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3.jfif" /><Relationship Id="rId4" Type="http://schemas.openxmlformats.org/officeDocument/2006/relationships/image" Target="../media/image2.png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18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 /><Relationship Id="rId1" Type="http://schemas.openxmlformats.org/officeDocument/2006/relationships/slideLayout" Target="../slideLayouts/slideLayout18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6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7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9.png" /><Relationship Id="rId4" Type="http://schemas.openxmlformats.org/officeDocument/2006/relationships/image" Target="../media/image8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0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1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5" Type="http://schemas.microsoft.com/office/2007/relationships/hdphoto" Target="../media/hdphoto1.wdp" /><Relationship Id="rId4" Type="http://schemas.openxmlformats.org/officeDocument/2006/relationships/image" Target="../media/image12.png" 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2.wdp" /><Relationship Id="rId2" Type="http://schemas.openxmlformats.org/officeDocument/2006/relationships/image" Target="../media/image13.png" /><Relationship Id="rId1" Type="http://schemas.openxmlformats.org/officeDocument/2006/relationships/slideLayout" Target="../slideLayouts/slideLayout2.xml" /><Relationship Id="rId5" Type="http://schemas.microsoft.com/office/2007/relationships/hdphoto" Target="../media/hdphoto3.wdp" /><Relationship Id="rId4" Type="http://schemas.openxmlformats.org/officeDocument/2006/relationships/image" Target="../media/image14.pn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5" Type="http://schemas.microsoft.com/office/2007/relationships/hdphoto" Target="../media/hdphoto4.wdp" /><Relationship Id="rId4" Type="http://schemas.openxmlformats.org/officeDocument/2006/relationships/image" Target="../media/image15.png" 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5.wdp" /><Relationship Id="rId2" Type="http://schemas.openxmlformats.org/officeDocument/2006/relationships/image" Target="../media/image16.pn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19.jfif" /><Relationship Id="rId5" Type="http://schemas.openxmlformats.org/officeDocument/2006/relationships/image" Target="../media/image18.jfif" /><Relationship Id="rId4" Type="http://schemas.openxmlformats.org/officeDocument/2006/relationships/image" Target="../media/image17.jfif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2.png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image" Target="../media/image20.pn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21.png" /><Relationship Id="rId4" Type="http://schemas.openxmlformats.org/officeDocument/2006/relationships/image" Target="../media/image2.png" 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2.png" /><Relationship Id="rId4" Type="http://schemas.openxmlformats.org/officeDocument/2006/relationships/image" Target="../media/image1.png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image" Target="../media/image220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2.png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 /><Relationship Id="rId1" Type="http://schemas.openxmlformats.org/officeDocument/2006/relationships/slideLayout" Target="../slideLayouts/slideLayout7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 /><Relationship Id="rId1" Type="http://schemas.openxmlformats.org/officeDocument/2006/relationships/slideLayout" Target="../slideLayouts/slideLayout7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D473078-CD25-2EBE-1CD8-22A00248716F}"/>
              </a:ext>
            </a:extLst>
          </p:cNvPr>
          <p:cNvSpPr/>
          <p:nvPr/>
        </p:nvSpPr>
        <p:spPr>
          <a:xfrm>
            <a:off x="1124474" y="215991"/>
            <a:ext cx="6885539" cy="3670238"/>
          </a:xfrm>
          <a:prstGeom prst="rect">
            <a:avLst/>
          </a:prstGeom>
          <a:noFill/>
        </p:spPr>
        <p:txBody>
          <a:bodyPr wrap="none" lIns="68580" tIns="34291" rIns="68580" bIns="34291">
            <a:spAutoFit/>
          </a:bodyPr>
          <a:lstStyle/>
          <a:p>
            <a:pPr algn="ctr" defTabSz="685783">
              <a:defRPr/>
            </a:pPr>
            <a:r>
              <a:rPr lang="en-US" sz="6600" b="1" i="1" u="sng" dirty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dist="38100" dir="2700000" algn="bl" rotWithShape="0">
                    <a:srgbClr val="5B9BD5"/>
                  </a:outerShdw>
                </a:effectLst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Physical Pharmacy</a:t>
            </a:r>
          </a:p>
          <a:p>
            <a:pPr algn="ctr" defTabSz="685783">
              <a:defRPr/>
            </a:pPr>
            <a:r>
              <a:rPr lang="en-US" sz="6600" b="1" i="1" u="sng" dirty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dist="38100" dir="2700000" algn="bl" rotWithShape="0">
                    <a:srgbClr val="5B9BD5"/>
                  </a:outerShdw>
                </a:effectLst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(CPT 203/ PT 203)</a:t>
            </a:r>
          </a:p>
          <a:p>
            <a:pPr algn="ctr" defTabSz="685783">
              <a:defRPr/>
            </a:pPr>
            <a:r>
              <a:rPr lang="en-US" sz="6600" b="1" i="1" u="sng" dirty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dist="38100" dir="2700000" algn="bl" rotWithShape="0">
                    <a:srgbClr val="5B9BD5"/>
                  </a:outerShdw>
                </a:effectLst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Lab 11</a:t>
            </a:r>
          </a:p>
          <a:p>
            <a:pPr algn="ctr" defTabSz="685783">
              <a:defRPr/>
            </a:pPr>
            <a:r>
              <a:rPr lang="en-US" sz="3600" b="1" i="1" u="sng" dirty="0">
                <a:ln w="13462">
                  <a:solidFill>
                    <a:prstClr val="white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rgbClr val="5B9BD5"/>
                  </a:outerShdw>
                </a:effectLst>
                <a:uFill>
                  <a:solidFill>
                    <a:srgbClr val="000000"/>
                  </a:solidFill>
                </a:uFill>
                <a:latin typeface="Calibri" panose="020F0502020204030204"/>
                <a:cs typeface="Times New Roman"/>
              </a:rPr>
              <a:t>Buffer &amp; Adsorption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348460-CDB2-C84A-F73B-F59013799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8058" y="134871"/>
            <a:ext cx="1072701" cy="773516"/>
          </a:xfrm>
          <a:prstGeom prst="rect">
            <a:avLst/>
          </a:prstGeom>
        </p:spPr>
      </p:pic>
      <p:pic>
        <p:nvPicPr>
          <p:cNvPr id="11" name="Picture 10" descr="MTI University">
            <a:extLst>
              <a:ext uri="{FF2B5EF4-FFF2-40B4-BE49-F238E27FC236}">
                <a16:creationId xmlns:a16="http://schemas.microsoft.com/office/drawing/2014/main" id="{A42D6100-AC02-1E1A-B3DB-DD917A1DEDFB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133251" y="134877"/>
            <a:ext cx="1072701" cy="653703"/>
          </a:xfrm>
          <a:prstGeom prst="rect">
            <a:avLst/>
          </a:prstGeom>
          <a:noFill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3A14829-C1BB-2C88-0408-DF73047590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0" y="3967343"/>
            <a:ext cx="4800600" cy="2688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619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tl\Downloads\IMG-20260206-WA0022(1)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64" r="3296" b="2862"/>
          <a:stretch/>
        </p:blipFill>
        <p:spPr bwMode="auto">
          <a:xfrm>
            <a:off x="696866" y="1059167"/>
            <a:ext cx="7477433" cy="4815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2630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35" t="23835" r="-3085" b="30753"/>
          <a:stretch/>
        </p:blipFill>
        <p:spPr>
          <a:xfrm>
            <a:off x="1272053" y="1001046"/>
            <a:ext cx="6880123" cy="45987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61885" y="2372645"/>
            <a:ext cx="5928852" cy="19246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21" tIns="45711" rIns="91421" bIns="45711" rtlCol="0" anchor="ctr"/>
          <a:lstStyle/>
          <a:p>
            <a:pPr marL="0" marR="0" lvl="0" indent="0" algn="ctr" defTabSz="45710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 dirty="0">
              <a:ln w="18000">
                <a:solidFill>
                  <a:srgbClr val="DE7E18">
                    <a:satMod val="140000"/>
                  </a:srgb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uLnTx/>
              <a:uFillTx/>
              <a:latin typeface="Century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3903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>
            <a:extLst>
              <a:ext uri="{FF2B5EF4-FFF2-40B4-BE49-F238E27FC236}">
                <a16:creationId xmlns:a16="http://schemas.microsoft.com/office/drawing/2014/main" id="{5E9A84A5-D3B9-167D-2D27-5C4C9BFE0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06693"/>
            <a:ext cx="9144000" cy="2057400"/>
          </a:xfrm>
        </p:spPr>
        <p:txBody>
          <a:bodyPr/>
          <a:lstStyle/>
          <a:p>
            <a:pPr algn="l" rtl="0" eaLnBrk="1" hangingPunct="1">
              <a:defRPr/>
            </a:pP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Buffer solution: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is a system, usually an aqueous solution, that possesses the</a:t>
            </a:r>
            <a:r>
              <a:rPr lang="en-US" sz="2000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property of resisting changes in pH with the addition of small amounts of a</a:t>
            </a:r>
            <a:r>
              <a:rPr lang="en-US" sz="2000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strong acid</a:t>
            </a:r>
            <a:r>
              <a:rPr lang="en-US" sz="2000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or</a:t>
            </a:r>
            <a:r>
              <a:rPr lang="en-US" sz="2000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base</a:t>
            </a:r>
            <a:r>
              <a:rPr lang="en-US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z="2000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US" altLang="ar-EG" dirty="0"/>
          </a:p>
          <a:p>
            <a:pPr algn="l" rtl="0" eaLnBrk="1" hangingPunct="1">
              <a:defRPr/>
            </a:pP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Buffer capacity:</a:t>
            </a:r>
            <a:r>
              <a:rPr lang="en-US" dirty="0">
                <a:solidFill>
                  <a:srgbClr val="4D5156"/>
                </a:solidFill>
              </a:rPr>
              <a:t>  </a:t>
            </a:r>
            <a:r>
              <a:rPr lang="en-US" sz="2000" dirty="0">
                <a:latin typeface="Times New Roman" panose="02020603050405020304" pitchFamily="18" charset="0"/>
              </a:rPr>
              <a:t>the ability of a solution to resist rapid changes in </a:t>
            </a:r>
            <a:r>
              <a:rPr lang="en-US" sz="2000" dirty="0" err="1">
                <a:latin typeface="Times New Roman" panose="02020603050405020304" pitchFamily="18" charset="0"/>
              </a:rPr>
              <a:t>pH.</a:t>
            </a:r>
            <a:r>
              <a:rPr lang="en-US" sz="2000" dirty="0">
                <a:latin typeface="Times New Roman" panose="02020603050405020304" pitchFamily="18" charset="0"/>
              </a:rPr>
              <a:t> </a:t>
            </a:r>
            <a:endParaRPr lang="en-US" altLang="ar-EG" sz="2000" dirty="0">
              <a:latin typeface="Times New Roman" panose="02020603050405020304" pitchFamily="18" charset="0"/>
            </a:endParaRPr>
          </a:p>
          <a:p>
            <a:pPr algn="l" rtl="0" eaLnBrk="1" hangingPunct="1">
              <a:defRPr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Typical</a:t>
            </a:r>
            <a:r>
              <a:rPr lang="en-US" sz="2000" spc="3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buffer</a:t>
            </a:r>
            <a:r>
              <a:rPr lang="en-US" sz="2000" spc="31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systems</a:t>
            </a:r>
            <a:r>
              <a:rPr lang="en-US" sz="2000" spc="3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that </a:t>
            </a:r>
            <a:r>
              <a:rPr lang="en-US" sz="2000" spc="-3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may</a:t>
            </a:r>
            <a:r>
              <a:rPr lang="en-US" sz="2000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be</a:t>
            </a:r>
            <a:r>
              <a:rPr lang="en-US" sz="2000" spc="4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used</a:t>
            </a:r>
            <a:r>
              <a:rPr lang="en-US" sz="2000" spc="4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en-US" sz="2000" spc="4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pharmaceutical</a:t>
            </a:r>
            <a:r>
              <a:rPr lang="en-US" sz="2000" spc="4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formulations</a:t>
            </a:r>
            <a:r>
              <a:rPr lang="en-US" sz="2000" spc="4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include</a:t>
            </a:r>
            <a:r>
              <a:rPr lang="en-US" sz="2000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2000" spc="4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following</a:t>
            </a:r>
            <a:r>
              <a:rPr lang="en-US" sz="2000" spc="4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pairs:</a:t>
            </a:r>
            <a:r>
              <a:rPr lang="en-US" sz="2000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"acetic</a:t>
            </a:r>
            <a:r>
              <a:rPr lang="en-US" sz="2000" b="1" spc="28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acid</a:t>
            </a:r>
            <a:r>
              <a:rPr lang="en-US" sz="2000" b="1" spc="28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2000" b="1" spc="28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sodium</a:t>
            </a:r>
            <a:r>
              <a:rPr lang="en-US" sz="2000" b="1" spc="27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acetate"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,"</a:t>
            </a:r>
            <a:r>
              <a:rPr lang="en-US" sz="2000" spc="29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boric</a:t>
            </a:r>
            <a:r>
              <a:rPr lang="en-US" sz="2000" b="1" spc="28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acid</a:t>
            </a:r>
            <a:r>
              <a:rPr lang="en-US" sz="2000" b="1" spc="27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2000" b="1" spc="27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sodium</a:t>
            </a:r>
            <a:r>
              <a:rPr lang="en-US" sz="2000" b="1" spc="289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borate",</a:t>
            </a:r>
            <a:r>
              <a:rPr lang="en-US" sz="2000" b="1" spc="27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2000" b="1" spc="-3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"disodium</a:t>
            </a:r>
            <a:r>
              <a:rPr lang="en-US" sz="2000" b="1" spc="-1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phosphate and sodium</a:t>
            </a:r>
            <a:r>
              <a:rPr lang="en-US" sz="2000" b="1" spc="-1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acid phosphate"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0" indent="0">
              <a:buNone/>
              <a:defRPr/>
            </a:pPr>
            <a:endParaRPr lang="en-US" altLang="ar-EG" sz="2400" dirty="0"/>
          </a:p>
        </p:txBody>
      </p:sp>
      <p:sp>
        <p:nvSpPr>
          <p:cNvPr id="5123" name="Rectangle 4">
            <a:extLst>
              <a:ext uri="{FF2B5EF4-FFF2-40B4-BE49-F238E27FC236}">
                <a16:creationId xmlns:a16="http://schemas.microsoft.com/office/drawing/2014/main" id="{85A6AD46-AD1E-019B-5BFD-8D8E0C7D9E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057" y="140498"/>
            <a:ext cx="7886700" cy="1325563"/>
          </a:xfrm>
        </p:spPr>
        <p:txBody>
          <a:bodyPr>
            <a:normAutofit/>
          </a:bodyPr>
          <a:lstStyle/>
          <a:p>
            <a:pPr marL="749281" algn="ctr">
              <a:spcBef>
                <a:spcPts val="800"/>
              </a:spcBef>
            </a:pPr>
            <a:r>
              <a:rPr lang="en-US" altLang="en-US" sz="36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Buffers and Buffer solutions</a:t>
            </a:r>
          </a:p>
        </p:txBody>
      </p:sp>
      <p:pic>
        <p:nvPicPr>
          <p:cNvPr id="2" name="Picture 1" descr="Diagram&#10;&#10;Description automatically generated">
            <a:extLst>
              <a:ext uri="{FF2B5EF4-FFF2-40B4-BE49-F238E27FC236}">
                <a16:creationId xmlns:a16="http://schemas.microsoft.com/office/drawing/2014/main" id="{50590326-C111-FAB5-3B72-EF68F6491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103" y="139178"/>
            <a:ext cx="1072701" cy="773516"/>
          </a:xfrm>
          <a:prstGeom prst="rect">
            <a:avLst/>
          </a:prstGeom>
        </p:spPr>
      </p:pic>
      <p:pic>
        <p:nvPicPr>
          <p:cNvPr id="3" name="Picture 2" descr="MTI University">
            <a:extLst>
              <a:ext uri="{FF2B5EF4-FFF2-40B4-BE49-F238E27FC236}">
                <a16:creationId xmlns:a16="http://schemas.microsoft.com/office/drawing/2014/main" id="{DC318E18-4284-1EA2-15A8-5C2D4AB6F64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76205" y="139182"/>
            <a:ext cx="1072701" cy="653703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62FFCB-33D8-DB47-5BE4-C858E39624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36" y="3271020"/>
            <a:ext cx="8610600" cy="3505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879059" y="18799"/>
            <a:ext cx="7886700" cy="1235075"/>
          </a:xfrm>
        </p:spPr>
        <p:txBody>
          <a:bodyPr/>
          <a:lstStyle/>
          <a:p>
            <a:pPr algn="ctr" eaLnBrk="1" hangingPunct="1"/>
            <a:r>
              <a:rPr lang="en-US" b="1" i="1" dirty="0">
                <a:solidFill>
                  <a:srgbClr val="002060"/>
                </a:solidFill>
              </a:rPr>
              <a:t>D</a:t>
            </a:r>
            <a:r>
              <a:rPr lang="en-US" b="1" i="1" dirty="0">
                <a:solidFill>
                  <a:srgbClr val="002060"/>
                </a:solidFill>
                <a:effectLst/>
              </a:rPr>
              <a:t>issociation of water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999013"/>
            <a:ext cx="8991600" cy="4385471"/>
          </a:xfrm>
        </p:spPr>
        <p:txBody>
          <a:bodyPr>
            <a:normAutofit lnSpcReduction="10000"/>
          </a:bodyPr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dirty="0">
                <a:effectLst/>
              </a:rPr>
              <a:t>The dissociation of water can be represented by:</a:t>
            </a:r>
          </a:p>
          <a:p>
            <a:pPr eaLnBrk="1" hangingPunct="1">
              <a:buFont typeface="Wingdings" pitchFamily="2" charset="2"/>
              <a:buChar char="n"/>
              <a:defRPr/>
            </a:pPr>
            <a:r>
              <a:rPr lang="en-US" dirty="0">
                <a:solidFill>
                  <a:srgbClr val="FF0000"/>
                </a:solidFill>
                <a:effectLst/>
              </a:rPr>
              <a:t> H2O                 H</a:t>
            </a:r>
            <a:r>
              <a:rPr lang="en-US" baseline="30000" dirty="0">
                <a:solidFill>
                  <a:srgbClr val="FF0000"/>
                </a:solidFill>
                <a:effectLst/>
              </a:rPr>
              <a:t>+</a:t>
            </a:r>
            <a:r>
              <a:rPr lang="en-US" dirty="0">
                <a:solidFill>
                  <a:srgbClr val="FF0000"/>
                </a:solidFill>
                <a:effectLst/>
              </a:rPr>
              <a:t>  +  OH</a:t>
            </a:r>
            <a:r>
              <a:rPr lang="en-US" baseline="30000" dirty="0">
                <a:solidFill>
                  <a:srgbClr val="FF0000"/>
                </a:solidFill>
                <a:effectLst/>
              </a:rPr>
              <a:t>-</a:t>
            </a:r>
            <a:r>
              <a:rPr lang="en-US" dirty="0">
                <a:solidFill>
                  <a:srgbClr val="FF0000"/>
                </a:solidFill>
                <a:effectLst/>
              </a:rPr>
              <a:t>                   </a:t>
            </a:r>
          </a:p>
          <a:p>
            <a:pPr eaLnBrk="1" hangingPunct="1">
              <a:buFont typeface="Wingdings" pitchFamily="2" charset="2"/>
              <a:buChar char="n"/>
              <a:defRPr/>
            </a:pPr>
            <a:r>
              <a:rPr lang="en-US" dirty="0">
                <a:effectLst/>
              </a:rPr>
              <a:t>In pure water the concentrations of H</a:t>
            </a:r>
            <a:r>
              <a:rPr lang="en-US" baseline="30000" dirty="0">
                <a:effectLst/>
              </a:rPr>
              <a:t>+</a:t>
            </a:r>
            <a:r>
              <a:rPr lang="en-US" dirty="0">
                <a:effectLst/>
              </a:rPr>
              <a:t> and OH</a:t>
            </a:r>
            <a:r>
              <a:rPr lang="en-US" baseline="30000" dirty="0">
                <a:effectLst/>
              </a:rPr>
              <a:t>-</a:t>
            </a:r>
            <a:r>
              <a:rPr lang="en-US" dirty="0">
                <a:effectLst/>
              </a:rPr>
              <a:t> ions are equal and at 25°C both have the values of </a:t>
            </a:r>
            <a:r>
              <a:rPr lang="en-US" u="sng" dirty="0">
                <a:effectLst/>
              </a:rPr>
              <a:t>1 x 10</a:t>
            </a:r>
            <a:r>
              <a:rPr lang="en-US" u="sng" baseline="30000" dirty="0">
                <a:effectLst/>
              </a:rPr>
              <a:t>-7</a:t>
            </a:r>
            <a:r>
              <a:rPr lang="en-US" u="sng" dirty="0">
                <a:effectLst/>
              </a:rPr>
              <a:t> mol/l.</a:t>
            </a:r>
            <a:r>
              <a:rPr lang="en-US" dirty="0">
                <a:effectLst/>
              </a:rPr>
              <a:t> </a:t>
            </a:r>
          </a:p>
          <a:p>
            <a:pPr marL="0" indent="0" algn="ctr">
              <a:buNone/>
              <a:defRPr/>
            </a:pPr>
            <a:r>
              <a:rPr lang="en-US" sz="4400" b="1" i="1" u="sng" dirty="0">
                <a:solidFill>
                  <a:srgbClr val="FF0000"/>
                </a:solidFill>
              </a:rPr>
              <a:t>pH</a:t>
            </a:r>
          </a:p>
          <a:p>
            <a:pPr eaLnBrk="1" hangingPunct="1">
              <a:buClr>
                <a:schemeClr val="accent1"/>
              </a:buClr>
              <a:buFont typeface="Wingdings" panose="05000000000000000000" pitchFamily="2" charset="2"/>
              <a:buChar char="Ø"/>
              <a:defRPr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negative logarithm of the hydrogen Ion concentration [H+]  </a:t>
            </a:r>
          </a:p>
          <a:p>
            <a:pPr eaLnBrk="1" hangingPunct="1">
              <a:buClr>
                <a:schemeClr val="accent1"/>
              </a:buClr>
              <a:buFont typeface="Wingdings" panose="05000000000000000000" pitchFamily="2" charset="2"/>
              <a:buChar char="Ø"/>
              <a:defRPr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 = -log [H+]</a:t>
            </a:r>
          </a:p>
          <a:p>
            <a:pPr eaLnBrk="1" hangingPunct="1">
              <a:buClr>
                <a:schemeClr val="accent1"/>
              </a:buClr>
              <a:buFont typeface="Wingdings" panose="05000000000000000000" pitchFamily="2" charset="2"/>
              <a:buChar char="Ø"/>
              <a:defRPr/>
            </a:pP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 of a neutral solution like pure water is 7, why?</a:t>
            </a:r>
          </a:p>
          <a:p>
            <a:pPr eaLnBrk="1" hangingPunct="1">
              <a:buClr>
                <a:schemeClr val="accent1"/>
              </a:buClr>
              <a:buFont typeface="Wingdings" panose="05000000000000000000" pitchFamily="2" charset="2"/>
              <a:buChar char="Ø"/>
              <a:defRPr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because the conc. of H+ ions (and OH- ) ions = 1 x 10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-7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mol/l (-log 10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-7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7)</a:t>
            </a:r>
          </a:p>
          <a:p>
            <a:pPr eaLnBrk="1" hangingPunct="1">
              <a:buClr>
                <a:schemeClr val="accent1"/>
              </a:buClr>
              <a:buFont typeface="Wingdings" panose="05000000000000000000" pitchFamily="2" charset="2"/>
              <a:buChar char="Ø"/>
              <a:defRPr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acidic solutions will be less than 7</a:t>
            </a:r>
          </a:p>
          <a:p>
            <a:pPr eaLnBrk="1" hangingPunct="1">
              <a:buClr>
                <a:schemeClr val="accent1"/>
              </a:buClr>
              <a:buFont typeface="Wingdings" panose="05000000000000000000" pitchFamily="2" charset="2"/>
              <a:buChar char="Ø"/>
              <a:defRPr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alkaline solutions will be greater than 7</a:t>
            </a:r>
          </a:p>
          <a:p>
            <a:pPr eaLnBrk="1" hangingPunct="1">
              <a:buFont typeface="Wingdings" pitchFamily="2" charset="2"/>
              <a:buChar char="n"/>
              <a:defRPr/>
            </a:pPr>
            <a:endParaRPr lang="en-US" dirty="0">
              <a:effectLst/>
            </a:endParaRPr>
          </a:p>
          <a:p>
            <a:pPr eaLnBrk="1" hangingPunct="1">
              <a:buFont typeface="Wingdings" pitchFamily="2" charset="2"/>
              <a:buChar char="n"/>
              <a:defRPr/>
            </a:pPr>
            <a:endParaRPr lang="en-US" dirty="0">
              <a:effectLst/>
            </a:endParaRPr>
          </a:p>
          <a:p>
            <a:pPr eaLnBrk="1" hangingPunct="1">
              <a:buFont typeface="Wingdings" pitchFamily="2" charset="2"/>
              <a:buChar char="n"/>
              <a:defRPr/>
            </a:pPr>
            <a:endParaRPr lang="en-US" dirty="0"/>
          </a:p>
        </p:txBody>
      </p:sp>
      <p:pic>
        <p:nvPicPr>
          <p:cNvPr id="2" name="Picture 1" descr="Diagram&#10;&#10;Description automatically generated">
            <a:extLst>
              <a:ext uri="{FF2B5EF4-FFF2-40B4-BE49-F238E27FC236}">
                <a16:creationId xmlns:a16="http://schemas.microsoft.com/office/drawing/2014/main" id="{B1625516-86D2-C925-15F2-AA9F9F9A9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103" y="139178"/>
            <a:ext cx="1072701" cy="773516"/>
          </a:xfrm>
          <a:prstGeom prst="rect">
            <a:avLst/>
          </a:prstGeom>
        </p:spPr>
      </p:pic>
      <p:pic>
        <p:nvPicPr>
          <p:cNvPr id="3" name="Picture 2" descr="MTI University">
            <a:extLst>
              <a:ext uri="{FF2B5EF4-FFF2-40B4-BE49-F238E27FC236}">
                <a16:creationId xmlns:a16="http://schemas.microsoft.com/office/drawing/2014/main" id="{8C5D1865-72D0-C73B-F8D5-436C5B99440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76205" y="139182"/>
            <a:ext cx="1072701" cy="653703"/>
          </a:xfrm>
          <a:prstGeom prst="rect">
            <a:avLst/>
          </a:prstGeom>
          <a:noFill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5C7851-A28A-541C-8C69-7710912531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8300" y="5146855"/>
            <a:ext cx="5867400" cy="1404624"/>
          </a:xfrm>
          <a:prstGeom prst="rect">
            <a:avLst/>
          </a:prstGeom>
        </p:spPr>
      </p:pic>
      <p:sp>
        <p:nvSpPr>
          <p:cNvPr id="5" name="Line 5">
            <a:extLst>
              <a:ext uri="{FF2B5EF4-FFF2-40B4-BE49-F238E27FC236}">
                <a16:creationId xmlns:a16="http://schemas.microsoft.com/office/drawing/2014/main" id="{710BBBB7-5667-2442-A2FA-F0C59150D2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79059" y="1606780"/>
            <a:ext cx="952500" cy="977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" name="Line 6">
            <a:extLst>
              <a:ext uri="{FF2B5EF4-FFF2-40B4-BE49-F238E27FC236}">
                <a16:creationId xmlns:a16="http://schemas.microsoft.com/office/drawing/2014/main" id="{39A828AA-ADFE-DCAE-0B50-C1545DDA189C}"/>
              </a:ext>
            </a:extLst>
          </p:cNvPr>
          <p:cNvSpPr>
            <a:spLocks noChangeShapeType="1"/>
          </p:cNvSpPr>
          <p:nvPr/>
        </p:nvSpPr>
        <p:spPr bwMode="auto">
          <a:xfrm>
            <a:off x="971555" y="1482300"/>
            <a:ext cx="83229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44750" y="731139"/>
            <a:ext cx="7886700" cy="1325563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sz="3200" b="1" i="1" u="sng" dirty="0">
                <a:solidFill>
                  <a:srgbClr val="0070C0"/>
                </a:solidFill>
              </a:rPr>
              <a:t>Dissociation (or ionization) constants and </a:t>
            </a:r>
            <a:r>
              <a:rPr lang="en-US" sz="3200" b="1" i="1" u="sng" dirty="0" err="1">
                <a:solidFill>
                  <a:srgbClr val="0070C0"/>
                </a:solidFill>
              </a:rPr>
              <a:t>pKa</a:t>
            </a:r>
            <a:r>
              <a:rPr lang="en-GB" sz="3200" b="1" i="1" u="sng" dirty="0">
                <a:solidFill>
                  <a:srgbClr val="0070C0"/>
                </a:solidFill>
              </a:rPr>
              <a:t>:</a:t>
            </a:r>
            <a:br>
              <a:rPr lang="en-GB" sz="3200" i="1" dirty="0">
                <a:solidFill>
                  <a:srgbClr val="0070C0"/>
                </a:solidFill>
              </a:rPr>
            </a:br>
            <a:endParaRPr lang="en-US" sz="3200" i="1" dirty="0">
              <a:solidFill>
                <a:srgbClr val="0070C0"/>
              </a:solidFill>
            </a:endParaRPr>
          </a:p>
        </p:txBody>
      </p:sp>
      <p:sp>
        <p:nvSpPr>
          <p:cNvPr id="77827" name="Rectangle 3"/>
          <p:cNvSpPr>
            <a:spLocks noGrp="1" noChangeArrowheads="1"/>
          </p:cNvSpPr>
          <p:nvPr>
            <p:ph idx="1"/>
          </p:nvPr>
        </p:nvSpPr>
        <p:spPr>
          <a:xfrm>
            <a:off x="-22001" y="1554427"/>
            <a:ext cx="9220200" cy="1600200"/>
          </a:xfrm>
        </p:spPr>
        <p:txBody>
          <a:bodyPr>
            <a:normAutofit/>
          </a:bodyPr>
          <a:lstStyle/>
          <a:p>
            <a:pPr algn="justLow" eaLnBrk="1" hangingPunct="1">
              <a:spcBef>
                <a:spcPct val="50000"/>
              </a:spcBef>
              <a:buFont typeface="Wingdings" panose="05000000000000000000" pitchFamily="2" charset="2"/>
              <a:buChar char="Ø"/>
              <a:defRPr/>
            </a:pPr>
            <a:r>
              <a:rPr lang="en-US" dirty="0">
                <a:effectLst/>
              </a:rPr>
              <a:t>In solutions of weak acids or weak bases equilibrium exist between undissociated molecules and their ions.</a:t>
            </a:r>
          </a:p>
          <a:p>
            <a:pPr>
              <a:spcBef>
                <a:spcPct val="100000"/>
              </a:spcBef>
              <a:buFont typeface="Wingdings" panose="05000000000000000000" pitchFamily="2" charset="2"/>
              <a:buChar char="Ø"/>
              <a:defRPr/>
            </a:pPr>
            <a:r>
              <a:rPr lang="en-US" dirty="0"/>
              <a:t>Such equilibrium do not occur in solutions of strong acids or bases in water, why?  </a:t>
            </a:r>
            <a:r>
              <a:rPr lang="en-US" dirty="0">
                <a:solidFill>
                  <a:srgbClr val="FF0000"/>
                </a:solidFill>
              </a:rPr>
              <a:t>because they are completely ionized</a:t>
            </a:r>
            <a:r>
              <a:rPr lang="en-GB" dirty="0">
                <a:solidFill>
                  <a:srgbClr val="FF0000"/>
                </a:solidFill>
              </a:rPr>
              <a:t>.</a:t>
            </a:r>
          </a:p>
          <a:p>
            <a:pPr algn="justLow" eaLnBrk="1" hangingPunct="1">
              <a:spcBef>
                <a:spcPct val="50000"/>
              </a:spcBef>
              <a:buFont typeface="Wingdings" panose="05000000000000000000" pitchFamily="2" charset="2"/>
              <a:buChar char="Ø"/>
              <a:defRPr/>
            </a:pPr>
            <a:endParaRPr lang="en-US" dirty="0">
              <a:effectLst/>
            </a:endParaRPr>
          </a:p>
          <a:p>
            <a:pPr algn="ctr"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endParaRPr lang="en-US" dirty="0"/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endParaRPr lang="en-US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438403" y="5852756"/>
            <a:ext cx="4307459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endParaRPr lang="en-US" sz="2400" baseline="30000" dirty="0"/>
          </a:p>
          <a:p>
            <a:pPr algn="ctr" eaLnBrk="0" hangingPunct="0"/>
            <a:endParaRPr lang="en-US" sz="2400" dirty="0">
              <a:latin typeface="Arial" charset="0"/>
            </a:endParaRPr>
          </a:p>
        </p:txBody>
      </p:sp>
      <p:pic>
        <p:nvPicPr>
          <p:cNvPr id="2" name="Picture 1" descr="Diagram&#10;&#10;Description automatically generated">
            <a:extLst>
              <a:ext uri="{FF2B5EF4-FFF2-40B4-BE49-F238E27FC236}">
                <a16:creationId xmlns:a16="http://schemas.microsoft.com/office/drawing/2014/main" id="{5D201121-8AE3-BDDF-48A7-DB054528F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103" y="139178"/>
            <a:ext cx="1072701" cy="773516"/>
          </a:xfrm>
          <a:prstGeom prst="rect">
            <a:avLst/>
          </a:prstGeom>
        </p:spPr>
      </p:pic>
      <p:pic>
        <p:nvPicPr>
          <p:cNvPr id="3" name="Picture 2" descr="MTI University">
            <a:extLst>
              <a:ext uri="{FF2B5EF4-FFF2-40B4-BE49-F238E27FC236}">
                <a16:creationId xmlns:a16="http://schemas.microsoft.com/office/drawing/2014/main" id="{085175F7-6939-5EB0-8460-4E1B5F20835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76205" y="139182"/>
            <a:ext cx="1072701" cy="653703"/>
          </a:xfrm>
          <a:prstGeom prst="rect">
            <a:avLst/>
          </a:prstGeom>
          <a:noFill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FF2A861-53FE-FA8A-554A-9CC3E8118C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1" y="3584154"/>
            <a:ext cx="4307459" cy="26225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101335-8509-0B56-B875-7F17F8FFCA1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508" t="4074" r="6216" b="8968"/>
          <a:stretch/>
        </p:blipFill>
        <p:spPr>
          <a:xfrm>
            <a:off x="4683007" y="3429004"/>
            <a:ext cx="4125704" cy="24087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Rectangle 3"/>
          <p:cNvSpPr>
            <a:spLocks noGrp="1" noChangeArrowheads="1"/>
          </p:cNvSpPr>
          <p:nvPr>
            <p:ph idx="1"/>
          </p:nvPr>
        </p:nvSpPr>
        <p:spPr>
          <a:xfrm>
            <a:off x="628651" y="1701372"/>
            <a:ext cx="7886700" cy="4351339"/>
          </a:xfrm>
        </p:spPr>
        <p:txBody>
          <a:bodyPr/>
          <a:lstStyle/>
          <a:p>
            <a:pPr eaLnBrk="1" hangingPunct="1">
              <a:buFont typeface="Wingdings" pitchFamily="2" charset="2"/>
              <a:buChar char="n"/>
              <a:defRPr/>
            </a:pPr>
            <a:endParaRPr lang="en-US" dirty="0"/>
          </a:p>
        </p:txBody>
      </p:sp>
      <p:pic>
        <p:nvPicPr>
          <p:cNvPr id="2" name="Picture 1" descr="Diagram&#10;&#10;Description automatically generated">
            <a:extLst>
              <a:ext uri="{FF2B5EF4-FFF2-40B4-BE49-F238E27FC236}">
                <a16:creationId xmlns:a16="http://schemas.microsoft.com/office/drawing/2014/main" id="{10809343-E250-7807-3690-A757D4203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103" y="139178"/>
            <a:ext cx="1072701" cy="773516"/>
          </a:xfrm>
          <a:prstGeom prst="rect">
            <a:avLst/>
          </a:prstGeom>
        </p:spPr>
      </p:pic>
      <p:pic>
        <p:nvPicPr>
          <p:cNvPr id="3" name="Picture 2" descr="MTI University">
            <a:extLst>
              <a:ext uri="{FF2B5EF4-FFF2-40B4-BE49-F238E27FC236}">
                <a16:creationId xmlns:a16="http://schemas.microsoft.com/office/drawing/2014/main" id="{EE7F2A1E-027E-D0DA-1A2B-0E382CB0D56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76205" y="139182"/>
            <a:ext cx="1072701" cy="653703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E70B5D-D79F-479D-2E3F-1425EB73BB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57253"/>
            <a:ext cx="9144000" cy="60007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44750" y="846772"/>
            <a:ext cx="7886700" cy="859043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sz="3200" b="1" i="1" u="sng" dirty="0">
                <a:solidFill>
                  <a:srgbClr val="0070C0"/>
                </a:solidFill>
              </a:rPr>
              <a:t>Dissociation (or ionization) constants and </a:t>
            </a:r>
            <a:r>
              <a:rPr lang="en-US" sz="3200" b="1" i="1" u="sng" dirty="0" err="1">
                <a:solidFill>
                  <a:srgbClr val="0070C0"/>
                </a:solidFill>
              </a:rPr>
              <a:t>pKa</a:t>
            </a:r>
            <a:r>
              <a:rPr lang="en-GB" sz="3200" b="1" i="1" u="sng" dirty="0">
                <a:solidFill>
                  <a:srgbClr val="0070C0"/>
                </a:solidFill>
              </a:rPr>
              <a:t>:</a:t>
            </a:r>
            <a:br>
              <a:rPr lang="en-GB" sz="3200" b="1" i="1" dirty="0">
                <a:solidFill>
                  <a:srgbClr val="0070C0"/>
                </a:solidFill>
              </a:rPr>
            </a:br>
            <a:endParaRPr lang="en-US" sz="3200" b="1" i="1" dirty="0">
              <a:solidFill>
                <a:srgbClr val="0070C0"/>
              </a:solidFill>
            </a:endParaRPr>
          </a:p>
        </p:txBody>
      </p:sp>
      <p:sp>
        <p:nvSpPr>
          <p:cNvPr id="79875" name="Rectangle 3"/>
          <p:cNvSpPr>
            <a:spLocks noGrp="1" noChangeArrowheads="1"/>
          </p:cNvSpPr>
          <p:nvPr>
            <p:ph idx="1"/>
          </p:nvPr>
        </p:nvSpPr>
        <p:spPr>
          <a:xfrm>
            <a:off x="133351" y="1459087"/>
            <a:ext cx="9067800" cy="4351339"/>
          </a:xfrm>
        </p:spPr>
        <p:txBody>
          <a:bodyPr/>
          <a:lstStyle/>
          <a:p>
            <a:pPr algn="ctr" eaLnBrk="1" hangingPunct="1">
              <a:buFont typeface="Wingdings" pitchFamily="2" charset="2"/>
              <a:buChar char="n"/>
              <a:defRPr/>
            </a:pPr>
            <a:r>
              <a:rPr lang="en-US" dirty="0">
                <a:effectLst/>
              </a:rPr>
              <a:t>In a solution of a weakly acidic drug HA the equilibrium may be represented by:                                            HA</a:t>
            </a:r>
            <a:r>
              <a:rPr lang="en-GB" dirty="0">
                <a:effectLst/>
              </a:rPr>
              <a:t> </a:t>
            </a:r>
            <a:r>
              <a:rPr lang="en-US" dirty="0">
                <a:effectLst/>
              </a:rPr>
              <a:t>      </a:t>
            </a:r>
            <a:r>
              <a:rPr lang="en-GB" dirty="0">
                <a:effectLst/>
              </a:rPr>
              <a:t>              </a:t>
            </a:r>
            <a:r>
              <a:rPr lang="en-US" dirty="0">
                <a:effectLst/>
              </a:rPr>
              <a:t>H</a:t>
            </a:r>
            <a:r>
              <a:rPr lang="en-US" baseline="30000" dirty="0">
                <a:effectLst/>
              </a:rPr>
              <a:t>+</a:t>
            </a:r>
            <a:r>
              <a:rPr lang="en-GB" baseline="30000" dirty="0">
                <a:effectLst/>
              </a:rPr>
              <a:t> </a:t>
            </a:r>
            <a:r>
              <a:rPr lang="en-GB" dirty="0">
                <a:effectLst/>
              </a:rPr>
              <a:t> +  </a:t>
            </a:r>
            <a:r>
              <a:rPr lang="en-US" dirty="0">
                <a:effectLst/>
              </a:rPr>
              <a:t>A</a:t>
            </a:r>
            <a:r>
              <a:rPr lang="en-GB" baseline="30000" dirty="0">
                <a:effectLst/>
              </a:rPr>
              <a:t>-</a:t>
            </a:r>
          </a:p>
          <a:p>
            <a:pPr eaLnBrk="1" hangingPunct="1">
              <a:buFont typeface="Wingdings" pitchFamily="2" charset="2"/>
              <a:buChar char="n"/>
              <a:defRPr/>
            </a:pPr>
            <a:endParaRPr lang="en-US" dirty="0"/>
          </a:p>
        </p:txBody>
      </p:sp>
      <p:sp>
        <p:nvSpPr>
          <p:cNvPr id="15364" name="Line 4"/>
          <p:cNvSpPr>
            <a:spLocks noChangeShapeType="1"/>
          </p:cNvSpPr>
          <p:nvPr/>
        </p:nvSpPr>
        <p:spPr bwMode="auto">
          <a:xfrm flipH="1">
            <a:off x="3924300" y="19812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365" name="Line 5"/>
          <p:cNvSpPr>
            <a:spLocks noChangeShapeType="1"/>
          </p:cNvSpPr>
          <p:nvPr/>
        </p:nvSpPr>
        <p:spPr bwMode="auto">
          <a:xfrm>
            <a:off x="3924300" y="1905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pic>
        <p:nvPicPr>
          <p:cNvPr id="2" name="Picture 1" descr="Diagram&#10;&#10;Description automatically generated">
            <a:extLst>
              <a:ext uri="{FF2B5EF4-FFF2-40B4-BE49-F238E27FC236}">
                <a16:creationId xmlns:a16="http://schemas.microsoft.com/office/drawing/2014/main" id="{B4DEAF7B-1E2D-6E40-DEED-D1F461C8B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103" y="139178"/>
            <a:ext cx="1072701" cy="773516"/>
          </a:xfrm>
          <a:prstGeom prst="rect">
            <a:avLst/>
          </a:prstGeom>
        </p:spPr>
      </p:pic>
      <p:pic>
        <p:nvPicPr>
          <p:cNvPr id="3" name="Picture 2" descr="MTI University">
            <a:extLst>
              <a:ext uri="{FF2B5EF4-FFF2-40B4-BE49-F238E27FC236}">
                <a16:creationId xmlns:a16="http://schemas.microsoft.com/office/drawing/2014/main" id="{B77F13CA-0F07-100D-F209-701079C5CF9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76205" y="139182"/>
            <a:ext cx="1072701" cy="653703"/>
          </a:xfrm>
          <a:prstGeom prst="rect">
            <a:avLst/>
          </a:prstGeom>
          <a:noFill/>
        </p:spPr>
      </p:pic>
      <p:sp>
        <p:nvSpPr>
          <p:cNvPr id="4" name="Rectangle 4">
            <a:extLst>
              <a:ext uri="{FF2B5EF4-FFF2-40B4-BE49-F238E27FC236}">
                <a16:creationId xmlns:a16="http://schemas.microsoft.com/office/drawing/2014/main" id="{57D8E3FE-7E05-41EA-34D7-063CC01DBB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7374" y="2696007"/>
            <a:ext cx="4307459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en-US" sz="2400" dirty="0"/>
              <a:t>B</a:t>
            </a:r>
            <a:r>
              <a:rPr lang="en-GB" sz="2400" dirty="0"/>
              <a:t>  +  </a:t>
            </a:r>
            <a:r>
              <a:rPr lang="en-US" sz="2400" dirty="0"/>
              <a:t>H</a:t>
            </a:r>
            <a:r>
              <a:rPr lang="en-US" sz="2400" baseline="30000" dirty="0"/>
              <a:t>+</a:t>
            </a:r>
            <a:r>
              <a:rPr lang="en-US" sz="2400" dirty="0"/>
              <a:t>  </a:t>
            </a:r>
            <a:r>
              <a:rPr lang="en-GB" sz="2400" dirty="0"/>
              <a:t>              </a:t>
            </a:r>
            <a:r>
              <a:rPr lang="en-US" sz="2400" dirty="0"/>
              <a:t>         BH</a:t>
            </a:r>
            <a:r>
              <a:rPr lang="en-GB" sz="2400" baseline="30000" dirty="0"/>
              <a:t>+</a:t>
            </a:r>
            <a:endParaRPr lang="en-US" sz="2400" baseline="30000" dirty="0"/>
          </a:p>
          <a:p>
            <a:pPr algn="ctr" eaLnBrk="0" hangingPunct="0"/>
            <a:endParaRPr lang="en-US" sz="2400" dirty="0">
              <a:latin typeface="Arial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F1E49F-4481-6B39-D12D-7FBE880AA9DD}"/>
              </a:ext>
            </a:extLst>
          </p:cNvPr>
          <p:cNvSpPr txBox="1"/>
          <p:nvPr/>
        </p:nvSpPr>
        <p:spPr>
          <a:xfrm>
            <a:off x="-838200" y="2338573"/>
            <a:ext cx="9067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Font typeface="Wingdings" pitchFamily="2" charset="2"/>
              <a:buChar char="n"/>
              <a:defRPr/>
            </a:pPr>
            <a:r>
              <a:rPr lang="en-US" sz="2000" dirty="0"/>
              <a:t> The protonation of a weakly basic drug B can be represented by :</a:t>
            </a:r>
          </a:p>
        </p:txBody>
      </p:sp>
      <p:sp>
        <p:nvSpPr>
          <p:cNvPr id="7" name="Line 5">
            <a:extLst>
              <a:ext uri="{FF2B5EF4-FFF2-40B4-BE49-F238E27FC236}">
                <a16:creationId xmlns:a16="http://schemas.microsoft.com/office/drawing/2014/main" id="{F34FE3BD-AA86-2B77-BCF5-22CDCE80EC9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10100" y="31115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F5DFE79B-5C37-F4AC-0DCF-F126F1A2FF3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28956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CCB974-121D-BC11-BD6E-B33A28F25247}"/>
              </a:ext>
            </a:extLst>
          </p:cNvPr>
          <p:cNvSpPr txBox="1"/>
          <p:nvPr/>
        </p:nvSpPr>
        <p:spPr>
          <a:xfrm>
            <a:off x="-84645" y="3305056"/>
            <a:ext cx="950595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891" indent="-342891">
              <a:spcBef>
                <a:spcPct val="50000"/>
              </a:spcBef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solidFill>
                  <a:prstClr val="black"/>
                </a:solidFill>
                <a:latin typeface="Arial" charset="0"/>
              </a:rPr>
              <a:t>The ionization constant (dissociation constant) Ka</a:t>
            </a:r>
            <a:r>
              <a:rPr lang="ar-SA" sz="2400" dirty="0">
                <a:solidFill>
                  <a:prstClr val="black"/>
                </a:solidFill>
                <a:latin typeface="Arial" charset="0"/>
                <a:cs typeface="Arial" panose="020B0604020202020204" pitchFamily="34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Arial" charset="0"/>
              </a:rPr>
              <a:t>of a </a:t>
            </a:r>
            <a:r>
              <a:rPr lang="en-US" sz="2400" dirty="0">
                <a:solidFill>
                  <a:srgbClr val="0070C0"/>
                </a:solidFill>
                <a:latin typeface="Arial" charset="0"/>
              </a:rPr>
              <a:t>weak acid </a:t>
            </a:r>
            <a:r>
              <a:rPr lang="en-US" sz="2400" dirty="0">
                <a:solidFill>
                  <a:prstClr val="black"/>
                </a:solidFill>
                <a:latin typeface="Arial" charset="0"/>
              </a:rPr>
              <a:t>can be obtained by applying the </a:t>
            </a:r>
            <a:r>
              <a:rPr lang="en-US" sz="2400" u="sng" dirty="0">
                <a:solidFill>
                  <a:prstClr val="black"/>
                </a:solidFill>
                <a:latin typeface="Arial" charset="0"/>
              </a:rPr>
              <a:t>Law of Mass Action</a:t>
            </a:r>
            <a:r>
              <a:rPr lang="en-US" sz="2400" dirty="0">
                <a:solidFill>
                  <a:prstClr val="black"/>
                </a:solidFill>
                <a:latin typeface="Arial" charset="0"/>
              </a:rPr>
              <a:t>: </a:t>
            </a:r>
          </a:p>
          <a:p>
            <a:pPr>
              <a:spcBef>
                <a:spcPct val="50000"/>
              </a:spcBef>
              <a:defRPr/>
            </a:pPr>
            <a:endParaRPr lang="en-US" sz="2400" dirty="0">
              <a:solidFill>
                <a:prstClr val="black"/>
              </a:solidFill>
              <a:latin typeface="Arial" charset="0"/>
              <a:cs typeface="Times New Roman" pitchFamily="1" charset="0"/>
            </a:endParaRPr>
          </a:p>
          <a:p>
            <a:pPr>
              <a:spcBef>
                <a:spcPct val="50000"/>
              </a:spcBef>
              <a:defRPr/>
            </a:pPr>
            <a:endParaRPr lang="en-US" sz="2400" dirty="0">
              <a:solidFill>
                <a:prstClr val="black"/>
              </a:solidFill>
              <a:latin typeface="Arial" charset="0"/>
              <a:cs typeface="Times New Roman" pitchFamily="1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DB0829B-D77A-2D13-C411-D53D7C7C31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240" y="4520708"/>
            <a:ext cx="7675529" cy="14466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2971800" y="5099485"/>
            <a:ext cx="3657600" cy="1066800"/>
          </a:xfrm>
          <a:prstGeom prst="rect">
            <a:avLst/>
          </a:prstGeom>
          <a:solidFill>
            <a:srgbClr val="0033CC"/>
          </a:solidFill>
          <a:ln w="9525">
            <a:solidFill>
              <a:srgbClr val="FFCC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18439" name="Line 7"/>
          <p:cNvSpPr>
            <a:spLocks noChangeShapeType="1"/>
          </p:cNvSpPr>
          <p:nvPr/>
        </p:nvSpPr>
        <p:spPr bwMode="auto">
          <a:xfrm>
            <a:off x="5562600" y="5632885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40" name="Text Box 8"/>
          <p:cNvSpPr txBox="1">
            <a:spLocks noChangeArrowheads="1"/>
          </p:cNvSpPr>
          <p:nvPr/>
        </p:nvSpPr>
        <p:spPr bwMode="auto">
          <a:xfrm>
            <a:off x="33337" y="3343419"/>
            <a:ext cx="9144000" cy="27217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u="sng" dirty="0">
                <a:solidFill>
                  <a:srgbClr val="FF0000"/>
                </a:solidFill>
                <a:latin typeface="Arial" charset="0"/>
                <a:cs typeface="Times New Roman" pitchFamily="1" charset="0"/>
              </a:rPr>
              <a:t>Henderson-Hasselbalch equation</a:t>
            </a:r>
            <a:r>
              <a:rPr lang="ar-SA" sz="2400" b="1" dirty="0" err="1">
                <a:latin typeface="Arial" charset="0"/>
                <a:cs typeface="Times New Roman" pitchFamily="1" charset="0"/>
              </a:rPr>
              <a:t>:</a:t>
            </a:r>
            <a:endParaRPr lang="ar-SA" sz="2400" b="1" dirty="0">
              <a:latin typeface="Arial" charset="0"/>
              <a:cs typeface="Times New Roman" pitchFamily="1" charset="0"/>
            </a:endParaRPr>
          </a:p>
          <a:p>
            <a:r>
              <a:rPr lang="en-US" sz="2400" dirty="0">
                <a:latin typeface="Arial" charset="0"/>
                <a:cs typeface="Times New Roman" pitchFamily="1" charset="0"/>
              </a:rPr>
              <a:t>A general equation that is applicable to any acidic drug with one ionizable group where: </a:t>
            </a:r>
          </a:p>
          <a:p>
            <a:r>
              <a:rPr lang="en-US" sz="2400" dirty="0">
                <a:latin typeface="Arial" charset="0"/>
                <a:cs typeface="Times New Roman" pitchFamily="1" charset="0"/>
              </a:rPr>
              <a:t>C</a:t>
            </a:r>
            <a:r>
              <a:rPr lang="en-US" sz="2400" baseline="-30000" dirty="0">
                <a:latin typeface="Arial" charset="0"/>
                <a:cs typeface="Times New Roman" pitchFamily="1" charset="0"/>
              </a:rPr>
              <a:t>u</a:t>
            </a:r>
            <a:r>
              <a:rPr lang="en-US" sz="2400" dirty="0">
                <a:latin typeface="Arial" charset="0"/>
                <a:cs typeface="Times New Roman" pitchFamily="1" charset="0"/>
              </a:rPr>
              <a:t> = conc. of the unionized ; C</a:t>
            </a:r>
            <a:r>
              <a:rPr lang="en-US" sz="2400" baseline="-30000" dirty="0">
                <a:latin typeface="Arial" charset="0"/>
                <a:cs typeface="Times New Roman" pitchFamily="1" charset="0"/>
              </a:rPr>
              <a:t>i</a:t>
            </a:r>
            <a:r>
              <a:rPr lang="en-US" sz="2400" dirty="0">
                <a:latin typeface="Arial" charset="0"/>
                <a:cs typeface="Times New Roman" pitchFamily="1" charset="0"/>
              </a:rPr>
              <a:t>  = conc. of the ionized species</a:t>
            </a:r>
          </a:p>
          <a:p>
            <a:endParaRPr lang="ar-SA" sz="2400" b="1" dirty="0">
              <a:solidFill>
                <a:schemeClr val="bg1"/>
              </a:solidFill>
              <a:latin typeface="Arial" charset="0"/>
              <a:cs typeface="Times New Roman" pitchFamily="1" charset="0"/>
            </a:endParaRPr>
          </a:p>
          <a:p>
            <a:pPr>
              <a:lnSpc>
                <a:spcPct val="70000"/>
              </a:lnSpc>
            </a:pPr>
            <a:r>
              <a:rPr lang="ar-SA" sz="2400" b="1" dirty="0">
                <a:solidFill>
                  <a:schemeClr val="bg1"/>
                </a:solidFill>
                <a:latin typeface="Arial" charset="0"/>
                <a:cs typeface="Times New Roman" pitchFamily="1" charset="0"/>
              </a:rPr>
              <a:t>                                                                          </a:t>
            </a:r>
            <a:r>
              <a:rPr lang="fr-FR" sz="2400" b="1" dirty="0">
                <a:solidFill>
                  <a:schemeClr val="bg1"/>
                </a:solidFill>
                <a:latin typeface="Arial" charset="0"/>
                <a:cs typeface="Times New Roman" pitchFamily="1" charset="0"/>
              </a:rPr>
              <a:t>C</a:t>
            </a:r>
            <a:r>
              <a:rPr lang="fr-FR" sz="2400" b="1" baseline="-30000" dirty="0">
                <a:solidFill>
                  <a:schemeClr val="bg1"/>
                </a:solidFill>
                <a:latin typeface="Arial" charset="0"/>
                <a:cs typeface="Times New Roman" pitchFamily="1" charset="0"/>
              </a:rPr>
              <a:t>i</a:t>
            </a:r>
            <a:endParaRPr lang="ar-SA" sz="2400" b="1" dirty="0">
              <a:solidFill>
                <a:schemeClr val="bg1"/>
              </a:solidFill>
              <a:latin typeface="Arial" charset="0"/>
              <a:cs typeface="Times New Roman" pitchFamily="1" charset="0"/>
            </a:endParaRPr>
          </a:p>
          <a:p>
            <a:pPr>
              <a:lnSpc>
                <a:spcPct val="70000"/>
              </a:lnSpc>
            </a:pPr>
            <a:r>
              <a:rPr lang="ar-SA" sz="2400" b="1" dirty="0">
                <a:solidFill>
                  <a:schemeClr val="bg1"/>
                </a:solidFill>
                <a:latin typeface="Arial" charset="0"/>
                <a:cs typeface="Times New Roman" pitchFamily="1" charset="0"/>
              </a:rPr>
              <a:t>                                         </a:t>
            </a:r>
            <a:r>
              <a:rPr lang="fr-FR" sz="2400" b="1" dirty="0" err="1">
                <a:solidFill>
                  <a:schemeClr val="bg1"/>
                </a:solidFill>
                <a:latin typeface="Arial" charset="0"/>
                <a:cs typeface="Times New Roman" pitchFamily="1" charset="0"/>
              </a:rPr>
              <a:t>pK</a:t>
            </a:r>
            <a:r>
              <a:rPr lang="fr-FR" sz="2400" b="1" baseline="-30000" dirty="0" err="1">
                <a:solidFill>
                  <a:schemeClr val="bg1"/>
                </a:solidFill>
                <a:latin typeface="Arial" charset="0"/>
                <a:cs typeface="Times New Roman" pitchFamily="1" charset="0"/>
              </a:rPr>
              <a:t>a</a:t>
            </a:r>
            <a:r>
              <a:rPr lang="fr-FR" sz="2400" b="1" dirty="0">
                <a:solidFill>
                  <a:schemeClr val="bg1"/>
                </a:solidFill>
                <a:latin typeface="Arial" charset="0"/>
                <a:cs typeface="Times New Roman" pitchFamily="1" charset="0"/>
              </a:rPr>
              <a:t> = pH</a:t>
            </a:r>
            <a:r>
              <a:rPr lang="ar-SA" sz="2400" b="1" dirty="0">
                <a:solidFill>
                  <a:schemeClr val="bg1"/>
                </a:solidFill>
                <a:latin typeface="Arial" charset="0"/>
                <a:cs typeface="Times New Roman" pitchFamily="1" charset="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Arial" charset="0"/>
                <a:cs typeface="Times New Roman" pitchFamily="1" charset="0"/>
              </a:rPr>
              <a:t>-</a:t>
            </a:r>
            <a:r>
              <a:rPr lang="ar-SA" sz="2400" b="1" dirty="0">
                <a:solidFill>
                  <a:schemeClr val="bg1"/>
                </a:solidFill>
                <a:latin typeface="Arial" charset="0"/>
                <a:cs typeface="Times New Roman" pitchFamily="1" charset="0"/>
              </a:rPr>
              <a:t>  </a:t>
            </a:r>
            <a:r>
              <a:rPr lang="fr-FR" sz="2400" b="1" dirty="0">
                <a:solidFill>
                  <a:schemeClr val="bg1"/>
                </a:solidFill>
                <a:latin typeface="Arial" charset="0"/>
                <a:cs typeface="Times New Roman" pitchFamily="1" charset="0"/>
              </a:rPr>
              <a:t>log</a:t>
            </a:r>
            <a:r>
              <a:rPr lang="ar-SA" sz="2400" b="1" dirty="0">
                <a:solidFill>
                  <a:schemeClr val="bg1"/>
                </a:solidFill>
                <a:latin typeface="Arial" charset="0"/>
                <a:cs typeface="Times New Roman" pitchFamily="1" charset="0"/>
              </a:rPr>
              <a:t>                </a:t>
            </a:r>
          </a:p>
          <a:p>
            <a:pPr>
              <a:lnSpc>
                <a:spcPct val="70000"/>
              </a:lnSpc>
            </a:pPr>
            <a:r>
              <a:rPr lang="ar-SA" sz="2400" b="1" dirty="0">
                <a:solidFill>
                  <a:schemeClr val="bg1"/>
                </a:solidFill>
                <a:latin typeface="Arial" charset="0"/>
                <a:cs typeface="Times New Roman" pitchFamily="1" charset="0"/>
              </a:rPr>
              <a:t>                                                                          </a:t>
            </a:r>
            <a:r>
              <a:rPr lang="fr-FR" sz="2400" b="1" dirty="0">
                <a:solidFill>
                  <a:schemeClr val="bg1"/>
                </a:solidFill>
                <a:latin typeface="Arial" charset="0"/>
                <a:cs typeface="Times New Roman" pitchFamily="1" charset="0"/>
              </a:rPr>
              <a:t>C</a:t>
            </a:r>
            <a:r>
              <a:rPr lang="fr-FR" sz="2400" b="1" baseline="-30000" dirty="0">
                <a:solidFill>
                  <a:schemeClr val="bg1"/>
                </a:solidFill>
                <a:latin typeface="Arial" charset="0"/>
                <a:cs typeface="Times New Roman" pitchFamily="1" charset="0"/>
              </a:rPr>
              <a:t>u</a:t>
            </a:r>
            <a:endParaRPr lang="en-GB" sz="2400" b="1" baseline="-30000" dirty="0">
              <a:solidFill>
                <a:schemeClr val="bg1"/>
              </a:solidFill>
              <a:latin typeface="Arial" charset="0"/>
              <a:cs typeface="Times New Roman" pitchFamily="1" charset="0"/>
            </a:endParaRPr>
          </a:p>
        </p:txBody>
      </p:sp>
      <p:pic>
        <p:nvPicPr>
          <p:cNvPr id="2" name="Picture 1" descr="Diagram&#10;&#10;Description automatically generated">
            <a:extLst>
              <a:ext uri="{FF2B5EF4-FFF2-40B4-BE49-F238E27FC236}">
                <a16:creationId xmlns:a16="http://schemas.microsoft.com/office/drawing/2014/main" id="{D6A24DA9-EFFB-F89A-36A3-CB15B0B65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103" y="139178"/>
            <a:ext cx="1072701" cy="773516"/>
          </a:xfrm>
          <a:prstGeom prst="rect">
            <a:avLst/>
          </a:prstGeom>
        </p:spPr>
      </p:pic>
      <p:pic>
        <p:nvPicPr>
          <p:cNvPr id="3" name="Picture 2" descr="MTI University">
            <a:extLst>
              <a:ext uri="{FF2B5EF4-FFF2-40B4-BE49-F238E27FC236}">
                <a16:creationId xmlns:a16="http://schemas.microsoft.com/office/drawing/2014/main" id="{93AD3452-A49C-E669-FDE2-AA7D792B4F4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76205" y="139182"/>
            <a:ext cx="1072701" cy="653703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82FA17-AFDE-EB0F-9289-42D3895CDFCB}"/>
              </a:ext>
            </a:extLst>
          </p:cNvPr>
          <p:cNvSpPr txBox="1"/>
          <p:nvPr/>
        </p:nvSpPr>
        <p:spPr>
          <a:xfrm>
            <a:off x="30957" y="792885"/>
            <a:ext cx="77414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dirty="0" err="1">
                <a:solidFill>
                  <a:prstClr val="black"/>
                </a:solidFill>
                <a:latin typeface="Arial" charset="0"/>
                <a:cs typeface="Times New Roman" pitchFamily="1" charset="0"/>
              </a:rPr>
              <a:t>pK</a:t>
            </a:r>
            <a:r>
              <a:rPr lang="en-US" sz="2400" baseline="-30000" dirty="0" err="1">
                <a:solidFill>
                  <a:prstClr val="black"/>
                </a:solidFill>
                <a:latin typeface="Arial" charset="0"/>
                <a:cs typeface="Times New Roman" pitchFamily="1" charset="0"/>
              </a:rPr>
              <a:t>a</a:t>
            </a:r>
            <a:r>
              <a:rPr lang="en-US" sz="2400" dirty="0">
                <a:solidFill>
                  <a:prstClr val="black"/>
                </a:solidFill>
                <a:latin typeface="Arial" charset="0"/>
                <a:cs typeface="Times New Roman" pitchFamily="1" charset="0"/>
              </a:rPr>
              <a:t> = the negative logarithm of K</a:t>
            </a:r>
            <a:r>
              <a:rPr lang="en-US" sz="2400" baseline="-30000" dirty="0">
                <a:solidFill>
                  <a:prstClr val="black"/>
                </a:solidFill>
                <a:latin typeface="Arial" charset="0"/>
                <a:cs typeface="Times New Roman" pitchFamily="1" charset="0"/>
              </a:rPr>
              <a:t>a</a:t>
            </a:r>
            <a:r>
              <a:rPr lang="en-US" sz="2400" dirty="0">
                <a:solidFill>
                  <a:prstClr val="black"/>
                </a:solidFill>
                <a:latin typeface="Arial" charset="0"/>
                <a:cs typeface="Times New Roman" pitchFamily="1" charset="0"/>
              </a:rPr>
              <a:t> </a:t>
            </a:r>
          </a:p>
          <a:p>
            <a:pPr>
              <a:defRPr/>
            </a:pPr>
            <a:r>
              <a:rPr lang="en-US" sz="2400" dirty="0">
                <a:solidFill>
                  <a:prstClr val="black"/>
                </a:solidFill>
                <a:latin typeface="Arial" charset="0"/>
                <a:cs typeface="Times New Roman" pitchFamily="1" charset="0"/>
              </a:rPr>
              <a:t>pH = the negative logarithm of the hydrogen ion conc. [H</a:t>
            </a:r>
            <a:r>
              <a:rPr lang="ar-SA" sz="2400" baseline="30000" dirty="0">
                <a:solidFill>
                  <a:prstClr val="black"/>
                </a:solidFill>
                <a:latin typeface="Arial" charset="0"/>
                <a:cs typeface="Times New Roman" pitchFamily="1" charset="0"/>
              </a:rPr>
              <a:t>+</a:t>
            </a:r>
            <a:r>
              <a:rPr lang="en-US" sz="2400" dirty="0">
                <a:solidFill>
                  <a:prstClr val="black"/>
                </a:solidFill>
                <a:latin typeface="Arial" charset="0"/>
                <a:cs typeface="Times New Roman" pitchFamily="1" charset="0"/>
              </a:rPr>
              <a:t>]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72C75D-B2E1-C72D-DA76-F118350F02C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 l="11667" t="29363"/>
          <a:stretch/>
        </p:blipFill>
        <p:spPr>
          <a:xfrm>
            <a:off x="762000" y="1608758"/>
            <a:ext cx="8077200" cy="156492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69FB0B-E2F4-8238-86AC-A02C9A9F4DB8}"/>
              </a:ext>
            </a:extLst>
          </p:cNvPr>
          <p:cNvCxnSpPr/>
          <p:nvPr/>
        </p:nvCxnSpPr>
        <p:spPr>
          <a:xfrm>
            <a:off x="5562600" y="5632885"/>
            <a:ext cx="762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19E2BC68-AE3C-D063-6C21-0C536DB014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3146429"/>
            <a:ext cx="7886700" cy="625471"/>
          </a:xfrm>
        </p:spPr>
        <p:txBody>
          <a:bodyPr>
            <a:normAutofit/>
          </a:bodyPr>
          <a:lstStyle/>
          <a:p>
            <a:pPr marL="292093" algn="ctr">
              <a:spcBef>
                <a:spcPts val="445"/>
              </a:spcBef>
              <a:defRPr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Buffer</a:t>
            </a:r>
            <a:r>
              <a:rPr lang="en-US" sz="2400" b="1" spc="-5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equations</a:t>
            </a:r>
            <a:r>
              <a:rPr lang="en-US" sz="2400" b="1" spc="-15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for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weak bases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29E04E9C-7C2A-B52A-C586-90046DAF01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812" y="3070229"/>
            <a:ext cx="9148346" cy="4530725"/>
          </a:xfrm>
        </p:spPr>
        <p:txBody>
          <a:bodyPr/>
          <a:lstStyle/>
          <a:p>
            <a:pPr marL="0" indent="0" algn="l" rtl="0" eaLnBrk="1" hangingPunct="1">
              <a:buNone/>
              <a:defRPr/>
            </a:pPr>
            <a:endParaRPr lang="en-US" altLang="ar-EG" dirty="0"/>
          </a:p>
          <a:p>
            <a:pPr marL="0" indent="0" algn="l" rtl="0" eaLnBrk="1" hangingPunct="1">
              <a:buNone/>
              <a:defRPr/>
            </a:pPr>
            <a:r>
              <a:rPr lang="en-US" altLang="ar-EG" dirty="0"/>
              <a:t>For weak base:</a:t>
            </a:r>
          </a:p>
          <a:p>
            <a:pPr marL="0" indent="0">
              <a:buNone/>
              <a:defRPr/>
            </a:pPr>
            <a:endParaRPr lang="en-US" altLang="ar-EG" dirty="0"/>
          </a:p>
          <a:p>
            <a:pPr marL="0" indent="0">
              <a:buNone/>
              <a:defRPr/>
            </a:pPr>
            <a:endParaRPr lang="en-US" altLang="ar-EG" dirty="0"/>
          </a:p>
          <a:p>
            <a:pPr marL="0" indent="0">
              <a:buNone/>
              <a:defRPr/>
            </a:pPr>
            <a:endParaRPr lang="en-US" altLang="ar-EG" dirty="0"/>
          </a:p>
          <a:p>
            <a:pPr marL="0" indent="0">
              <a:buNone/>
              <a:defRPr/>
            </a:pPr>
            <a:endParaRPr lang="en-US" altLang="ar-EG" dirty="0"/>
          </a:p>
          <a:p>
            <a:pPr marL="0" indent="0">
              <a:buNone/>
              <a:defRPr/>
            </a:pPr>
            <a:endParaRPr lang="en-US" altLang="ar-EG" dirty="0"/>
          </a:p>
          <a:p>
            <a:pPr marL="0" indent="0">
              <a:buNone/>
              <a:defRPr/>
            </a:pPr>
            <a:r>
              <a:rPr lang="en-US" altLang="ar-EG" dirty="0"/>
              <a:t> </a:t>
            </a:r>
            <a:endParaRPr lang="en-US" altLang="ar-EG" b="1" dirty="0"/>
          </a:p>
          <a:p>
            <a:pPr marL="0" indent="0" algn="ctr">
              <a:buNone/>
              <a:defRPr/>
            </a:pPr>
            <a:r>
              <a:rPr lang="en-US" altLang="ar-EG" b="1" dirty="0">
                <a:highlight>
                  <a:srgbClr val="FFFF00"/>
                </a:highlight>
              </a:rPr>
              <a:t>Where </a:t>
            </a:r>
            <a:r>
              <a:rPr lang="en-US" altLang="ar-EG" b="1" dirty="0" err="1">
                <a:highlight>
                  <a:srgbClr val="FFFF00"/>
                </a:highlight>
              </a:rPr>
              <a:t>pK</a:t>
            </a:r>
            <a:r>
              <a:rPr lang="en-US" altLang="ar-EG" b="1" baseline="-25000" dirty="0" err="1">
                <a:highlight>
                  <a:srgbClr val="FFFF00"/>
                </a:highlight>
              </a:rPr>
              <a:t>w</a:t>
            </a:r>
            <a:r>
              <a:rPr lang="en-US" altLang="ar-EG" b="1" baseline="-25000" dirty="0">
                <a:highlight>
                  <a:srgbClr val="FFFF00"/>
                </a:highlight>
              </a:rPr>
              <a:t>  </a:t>
            </a:r>
            <a:r>
              <a:rPr lang="en-US" altLang="ar-EG" b="1" dirty="0">
                <a:highlight>
                  <a:srgbClr val="FFFF00"/>
                </a:highlight>
              </a:rPr>
              <a:t>of water = (14 )  &amp; K</a:t>
            </a:r>
            <a:r>
              <a:rPr lang="en-US" altLang="ar-EG" b="1" baseline="-25000" dirty="0">
                <a:highlight>
                  <a:srgbClr val="FFFF00"/>
                </a:highlight>
              </a:rPr>
              <a:t>w </a:t>
            </a:r>
            <a:r>
              <a:rPr lang="en-US" altLang="ar-EG" b="1" dirty="0">
                <a:highlight>
                  <a:srgbClr val="FFFF00"/>
                </a:highlight>
              </a:rPr>
              <a:t>of water = (1 x 10</a:t>
            </a:r>
            <a:r>
              <a:rPr lang="en-US" altLang="ar-EG" b="1" baseline="30000" dirty="0">
                <a:highlight>
                  <a:srgbClr val="FFFF00"/>
                </a:highlight>
              </a:rPr>
              <a:t>-14</a:t>
            </a:r>
            <a:r>
              <a:rPr lang="en-US" altLang="ar-EG" b="1" dirty="0">
                <a:highlight>
                  <a:srgbClr val="FFFF00"/>
                </a:highlight>
              </a:rPr>
              <a:t>)</a:t>
            </a:r>
          </a:p>
        </p:txBody>
      </p:sp>
      <p:pic>
        <p:nvPicPr>
          <p:cNvPr id="8196" name="image213.jpeg">
            <a:extLst>
              <a:ext uri="{FF2B5EF4-FFF2-40B4-BE49-F238E27FC236}">
                <a16:creationId xmlns:a16="http://schemas.microsoft.com/office/drawing/2014/main" id="{4B1502FB-562E-B149-C1CF-854A1D4DC6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grayscl/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5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515"/>
          <a:stretch/>
        </p:blipFill>
        <p:spPr bwMode="auto">
          <a:xfrm>
            <a:off x="173558" y="3776662"/>
            <a:ext cx="8991600" cy="2105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1438B4D-9880-A42E-C1FD-6EA5947F46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7000"/>
                    </a14:imgEffect>
                    <a14:imgEffect>
                      <a14:colorTemperature colorTemp="59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4033" y="203164"/>
            <a:ext cx="8917621" cy="294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582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52908A7-BA43-666C-8015-EDBA4D3D9716}"/>
              </a:ext>
            </a:extLst>
          </p:cNvPr>
          <p:cNvSpPr/>
          <p:nvPr/>
        </p:nvSpPr>
        <p:spPr>
          <a:xfrm>
            <a:off x="4572000" y="3855662"/>
            <a:ext cx="1524000" cy="5333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44483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buClr>
                <a:srgbClr val="FF3300"/>
              </a:buClr>
            </a:pPr>
            <a:r>
              <a:rPr lang="en-US" sz="2400" dirty="0">
                <a:latin typeface="Arial" charset="0"/>
              </a:rPr>
              <a:t>  </a:t>
            </a:r>
            <a:endParaRPr lang="ar-SA" sz="2400" dirty="0">
              <a:latin typeface="Arial" charset="0"/>
            </a:endParaRPr>
          </a:p>
          <a:p>
            <a:pPr marL="95248" indent="-95248" algn="ctr"/>
            <a:r>
              <a:rPr lang="en-US" sz="4000" b="1" dirty="0">
                <a:solidFill>
                  <a:srgbClr val="0070C0"/>
                </a:solidFill>
                <a:latin typeface="Arial" charset="0"/>
              </a:rPr>
              <a:t>Problem 1</a:t>
            </a:r>
          </a:p>
          <a:p>
            <a:pPr marL="457189" indent="-457189">
              <a:buAutoNum type="arabicPeriod"/>
            </a:pPr>
            <a:r>
              <a:rPr lang="en-US" sz="2400" dirty="0">
                <a:latin typeface="Arial" charset="0"/>
                <a:cs typeface="Times New Roman" pitchFamily="1" charset="0"/>
              </a:rPr>
              <a:t>The </a:t>
            </a:r>
            <a:r>
              <a:rPr lang="en-US" sz="2400" dirty="0" err="1">
                <a:solidFill>
                  <a:srgbClr val="FF6600"/>
                </a:solidFill>
                <a:latin typeface="Arial" charset="0"/>
                <a:cs typeface="Times New Roman" pitchFamily="1" charset="0"/>
              </a:rPr>
              <a:t>pK</a:t>
            </a:r>
            <a:r>
              <a:rPr lang="en-US" sz="2400" baseline="-30000" dirty="0" err="1">
                <a:solidFill>
                  <a:srgbClr val="FF6600"/>
                </a:solidFill>
                <a:latin typeface="Arial" charset="0"/>
                <a:cs typeface="Times New Roman" pitchFamily="1" charset="0"/>
              </a:rPr>
              <a:t>a</a:t>
            </a:r>
            <a:r>
              <a:rPr lang="en-US" sz="2400" dirty="0">
                <a:latin typeface="Arial" charset="0"/>
                <a:cs typeface="Times New Roman" pitchFamily="1" charset="0"/>
              </a:rPr>
              <a:t> of the weakly acidic drug sulphapyridine is about 8.0 and if the </a:t>
            </a:r>
            <a:r>
              <a:rPr lang="en-US" sz="2400" dirty="0">
                <a:solidFill>
                  <a:srgbClr val="FF6600"/>
                </a:solidFill>
                <a:latin typeface="Arial" charset="0"/>
                <a:cs typeface="Times New Roman" pitchFamily="1" charset="0"/>
              </a:rPr>
              <a:t>pH</a:t>
            </a:r>
            <a:r>
              <a:rPr lang="en-US" sz="2400" dirty="0">
                <a:latin typeface="Arial" charset="0"/>
                <a:cs typeface="Times New Roman" pitchFamily="1" charset="0"/>
              </a:rPr>
              <a:t> of the lacrimal fluid is 7.2; find the ratio of </a:t>
            </a:r>
          </a:p>
          <a:p>
            <a:r>
              <a:rPr lang="en-US" sz="2400" dirty="0">
                <a:latin typeface="Arial" charset="0"/>
                <a:cs typeface="Times New Roman" pitchFamily="1" charset="0"/>
              </a:rPr>
              <a:t>      ionized: unionized drug?</a:t>
            </a:r>
          </a:p>
          <a:p>
            <a:endParaRPr lang="en-US" sz="2400" dirty="0">
              <a:latin typeface="Arial" charset="0"/>
              <a:cs typeface="Times New Roman" pitchFamily="1" charset="0"/>
            </a:endParaRPr>
          </a:p>
          <a:p>
            <a:pPr marL="457189" indent="-457189">
              <a:buAutoNum type="arabicPeriod"/>
            </a:pPr>
            <a:endParaRPr lang="ar-SA" sz="2400" dirty="0">
              <a:latin typeface="Arial" charset="0"/>
              <a:cs typeface="Times New Roman" pitchFamily="1" charset="0"/>
            </a:endParaRPr>
          </a:p>
          <a:p>
            <a:pPr marL="95248" indent="-95248" algn="justLow">
              <a:lnSpc>
                <a:spcPct val="75000"/>
              </a:lnSpc>
            </a:pPr>
            <a:r>
              <a:rPr lang="ar-SA" sz="2400" dirty="0">
                <a:latin typeface="Arial" charset="0"/>
                <a:cs typeface="Times New Roman" pitchFamily="1" charset="0"/>
              </a:rPr>
              <a:t>           </a:t>
            </a:r>
            <a:r>
              <a:rPr lang="en-US" sz="2400" dirty="0">
                <a:latin typeface="Arial" charset="0"/>
                <a:cs typeface="Times New Roman" pitchFamily="1" charset="0"/>
              </a:rPr>
              <a:t> </a:t>
            </a:r>
            <a:r>
              <a:rPr lang="ar-SA" sz="2400" dirty="0">
                <a:latin typeface="Arial" charset="0"/>
                <a:cs typeface="Times New Roman" pitchFamily="1" charset="0"/>
              </a:rPr>
              <a:t>                        </a:t>
            </a:r>
            <a:r>
              <a:rPr lang="fr-FR" sz="2400" dirty="0">
                <a:latin typeface="Arial" charset="0"/>
                <a:cs typeface="Times New Roman" pitchFamily="1" charset="0"/>
              </a:rPr>
              <a:t>C</a:t>
            </a:r>
            <a:r>
              <a:rPr lang="fr-FR" sz="2400" baseline="-30000" dirty="0">
                <a:latin typeface="Arial" charset="0"/>
                <a:cs typeface="Times New Roman" pitchFamily="1" charset="0"/>
              </a:rPr>
              <a:t>i</a:t>
            </a:r>
            <a:endParaRPr lang="ar-SA" sz="2400" dirty="0">
              <a:latin typeface="Arial" charset="0"/>
              <a:cs typeface="Times New Roman" pitchFamily="1" charset="0"/>
            </a:endParaRPr>
          </a:p>
          <a:p>
            <a:pPr marL="95248" indent="-95248" algn="justLow">
              <a:lnSpc>
                <a:spcPct val="75000"/>
              </a:lnSpc>
            </a:pPr>
            <a:r>
              <a:rPr lang="ar-SA" sz="2400" dirty="0">
                <a:latin typeface="Arial" charset="0"/>
                <a:cs typeface="Times New Roman" pitchFamily="1" charset="0"/>
              </a:rPr>
              <a:t>                          </a:t>
            </a:r>
            <a:r>
              <a:rPr lang="fr-FR" sz="2400" dirty="0">
                <a:latin typeface="Arial" charset="0"/>
                <a:cs typeface="Times New Roman" pitchFamily="1" charset="0"/>
              </a:rPr>
              <a:t>log</a:t>
            </a:r>
            <a:r>
              <a:rPr lang="ar-SA" sz="2400" dirty="0">
                <a:latin typeface="Arial" charset="0"/>
                <a:cs typeface="Times New Roman" pitchFamily="1" charset="0"/>
              </a:rPr>
              <a:t>  =                 </a:t>
            </a:r>
            <a:r>
              <a:rPr lang="fr-FR" sz="2400" dirty="0">
                <a:latin typeface="Arial" charset="0"/>
                <a:cs typeface="Times New Roman" pitchFamily="1" charset="0"/>
              </a:rPr>
              <a:t>pH - </a:t>
            </a:r>
            <a:r>
              <a:rPr lang="fr-FR" sz="2400" dirty="0" err="1">
                <a:latin typeface="Arial" charset="0"/>
                <a:cs typeface="Times New Roman" pitchFamily="1" charset="0"/>
              </a:rPr>
              <a:t>pK</a:t>
            </a:r>
            <a:r>
              <a:rPr lang="fr-FR" sz="2400" baseline="-30000" dirty="0" err="1">
                <a:latin typeface="Arial" charset="0"/>
                <a:cs typeface="Times New Roman" pitchFamily="1" charset="0"/>
              </a:rPr>
              <a:t>a</a:t>
            </a:r>
            <a:r>
              <a:rPr lang="fr-FR" sz="2400" dirty="0">
                <a:latin typeface="Arial" charset="0"/>
                <a:cs typeface="Times New Roman" pitchFamily="1" charset="0"/>
              </a:rPr>
              <a:t> = </a:t>
            </a:r>
            <a:r>
              <a:rPr lang="en-US" sz="2400" dirty="0">
                <a:latin typeface="Arial" charset="0"/>
                <a:cs typeface="Times New Roman" pitchFamily="1" charset="0"/>
              </a:rPr>
              <a:t>7.2 - </a:t>
            </a:r>
            <a:r>
              <a:rPr lang="fr-FR" sz="2400" dirty="0">
                <a:latin typeface="Arial" charset="0"/>
                <a:cs typeface="Times New Roman" pitchFamily="1" charset="0"/>
              </a:rPr>
              <a:t>8</a:t>
            </a:r>
            <a:r>
              <a:rPr lang="en-US" sz="2400" dirty="0">
                <a:latin typeface="Arial" charset="0"/>
                <a:cs typeface="Times New Roman" pitchFamily="1" charset="0"/>
              </a:rPr>
              <a:t> = -0.8</a:t>
            </a:r>
            <a:endParaRPr lang="ar-SA" sz="2400" dirty="0">
              <a:latin typeface="Arial" charset="0"/>
              <a:cs typeface="Times New Roman" pitchFamily="1" charset="0"/>
            </a:endParaRPr>
          </a:p>
          <a:p>
            <a:pPr marL="95248" indent="-95248" algn="justLow">
              <a:lnSpc>
                <a:spcPct val="75000"/>
              </a:lnSpc>
            </a:pPr>
            <a:r>
              <a:rPr lang="ar-SA" sz="2400" dirty="0">
                <a:latin typeface="Arial" charset="0"/>
                <a:cs typeface="Times New Roman" pitchFamily="1" charset="0"/>
              </a:rPr>
              <a:t>                                     </a:t>
            </a:r>
            <a:r>
              <a:rPr lang="fr-FR" sz="2400" dirty="0">
                <a:latin typeface="Arial" charset="0"/>
                <a:cs typeface="Times New Roman" pitchFamily="1" charset="0"/>
              </a:rPr>
              <a:t>C</a:t>
            </a:r>
            <a:r>
              <a:rPr lang="fr-FR" sz="2400" baseline="-30000" dirty="0">
                <a:latin typeface="Arial" charset="0"/>
                <a:cs typeface="Times New Roman" pitchFamily="1" charset="0"/>
              </a:rPr>
              <a:t>u</a:t>
            </a:r>
            <a:endParaRPr lang="en-US" sz="2400" baseline="-30000" dirty="0">
              <a:latin typeface="Arial" charset="0"/>
              <a:cs typeface="Times New Roman" pitchFamily="1" charset="0"/>
            </a:endParaRPr>
          </a:p>
          <a:p>
            <a:pPr marL="95248" indent="-95248" algn="justLow">
              <a:lnSpc>
                <a:spcPct val="75000"/>
              </a:lnSpc>
            </a:pPr>
            <a:endParaRPr lang="en-US" sz="2400" baseline="-30000" dirty="0">
              <a:latin typeface="Arial" charset="0"/>
              <a:cs typeface="Times New Roman" pitchFamily="1" charset="0"/>
            </a:endParaRPr>
          </a:p>
          <a:p>
            <a:pPr marL="95248" indent="-95248" algn="justLow">
              <a:lnSpc>
                <a:spcPct val="75000"/>
              </a:lnSpc>
            </a:pPr>
            <a:endParaRPr lang="en-US" sz="2400" baseline="-30000" dirty="0">
              <a:latin typeface="Arial" charset="0"/>
              <a:cs typeface="Times New Roman" pitchFamily="1" charset="0"/>
            </a:endParaRPr>
          </a:p>
          <a:p>
            <a:pPr marL="95248" indent="-95248" algn="justLow">
              <a:lnSpc>
                <a:spcPct val="75000"/>
              </a:lnSpc>
            </a:pPr>
            <a:r>
              <a:rPr lang="ar-SA" sz="2400" dirty="0">
                <a:latin typeface="Arial" charset="0"/>
                <a:cs typeface="Times New Roman" pitchFamily="1" charset="0"/>
              </a:rPr>
              <a:t>                       </a:t>
            </a:r>
            <a:r>
              <a:rPr lang="fr-FR" sz="2400" dirty="0">
                <a:latin typeface="Arial" charset="0"/>
                <a:cs typeface="Times New Roman" pitchFamily="1" charset="0"/>
              </a:rPr>
              <a:t>C</a:t>
            </a:r>
            <a:r>
              <a:rPr lang="fr-FR" sz="2400" baseline="-30000" dirty="0">
                <a:latin typeface="Arial" charset="0"/>
                <a:cs typeface="Times New Roman" pitchFamily="1" charset="0"/>
              </a:rPr>
              <a:t>i</a:t>
            </a:r>
            <a:r>
              <a:rPr lang="fr-FR" sz="2800" dirty="0">
                <a:latin typeface="Arial" charset="0"/>
                <a:cs typeface="Times New Roman" pitchFamily="1" charset="0"/>
              </a:rPr>
              <a:t>/</a:t>
            </a:r>
            <a:r>
              <a:rPr lang="fr-FR" sz="2400" dirty="0">
                <a:latin typeface="Arial" charset="0"/>
                <a:cs typeface="Times New Roman" pitchFamily="1" charset="0"/>
              </a:rPr>
              <a:t>C</a:t>
            </a:r>
            <a:r>
              <a:rPr lang="fr-FR" sz="2400" baseline="-30000" dirty="0">
                <a:latin typeface="Arial" charset="0"/>
                <a:cs typeface="Times New Roman" pitchFamily="1" charset="0"/>
              </a:rPr>
              <a:t>u</a:t>
            </a:r>
            <a:r>
              <a:rPr lang="fr-FR" sz="2400" dirty="0">
                <a:latin typeface="Arial" charset="0"/>
                <a:cs typeface="Times New Roman" pitchFamily="1" charset="0"/>
              </a:rPr>
              <a:t> = </a:t>
            </a:r>
            <a:r>
              <a:rPr lang="fr-FR" sz="2400" dirty="0" err="1">
                <a:latin typeface="Arial" charset="0"/>
                <a:cs typeface="Times New Roman" pitchFamily="1" charset="0"/>
              </a:rPr>
              <a:t>antilog</a:t>
            </a:r>
            <a:r>
              <a:rPr lang="fr-FR" sz="2400" dirty="0">
                <a:latin typeface="Arial" charset="0"/>
                <a:cs typeface="Times New Roman" pitchFamily="1" charset="0"/>
              </a:rPr>
              <a:t>(- 0.8) </a:t>
            </a:r>
            <a:r>
              <a:rPr lang="fr-FR" sz="2400" dirty="0">
                <a:solidFill>
                  <a:schemeClr val="bg1"/>
                </a:solidFill>
                <a:latin typeface="Arial" charset="0"/>
                <a:cs typeface="Times New Roman" pitchFamily="1" charset="0"/>
              </a:rPr>
              <a:t>= </a:t>
            </a:r>
            <a:r>
              <a:rPr lang="en-GB" sz="2400" b="1" dirty="0">
                <a:solidFill>
                  <a:schemeClr val="bg1"/>
                </a:solidFill>
                <a:latin typeface="arial" panose="020B0604020202020204" pitchFamily="34" charset="0"/>
                <a:cs typeface="Times New Roman" pitchFamily="1" charset="0"/>
              </a:rPr>
              <a:t>0.158</a:t>
            </a:r>
            <a:r>
              <a:rPr lang="ar-SA" sz="2400" baseline="30000" dirty="0">
                <a:solidFill>
                  <a:schemeClr val="bg1"/>
                </a:solidFill>
                <a:latin typeface="Arial" charset="0"/>
                <a:cs typeface="Times New Roman" pitchFamily="1" charset="0"/>
              </a:rPr>
              <a:t> </a:t>
            </a:r>
            <a:r>
              <a:rPr lang="en-US" sz="2400" dirty="0">
                <a:solidFill>
                  <a:schemeClr val="bg1"/>
                </a:solidFill>
                <a:latin typeface="Arial" charset="0"/>
                <a:cs typeface="Times New Roman" pitchFamily="1" charset="0"/>
              </a:rPr>
              <a:t>:1</a:t>
            </a:r>
          </a:p>
        </p:txBody>
      </p:sp>
      <p:sp>
        <p:nvSpPr>
          <p:cNvPr id="20483" name="Line 3"/>
          <p:cNvSpPr>
            <a:spLocks noChangeShapeType="1"/>
          </p:cNvSpPr>
          <p:nvPr/>
        </p:nvSpPr>
        <p:spPr bwMode="auto">
          <a:xfrm>
            <a:off x="2743200" y="25146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484" name="Line 4"/>
          <p:cNvSpPr>
            <a:spLocks noChangeShapeType="1"/>
          </p:cNvSpPr>
          <p:nvPr/>
        </p:nvSpPr>
        <p:spPr bwMode="auto">
          <a:xfrm>
            <a:off x="2743200" y="990600"/>
            <a:ext cx="3581400" cy="0"/>
          </a:xfrm>
          <a:prstGeom prst="line">
            <a:avLst/>
          </a:prstGeom>
          <a:noFill/>
          <a:ln w="76200">
            <a:solidFill>
              <a:srgbClr val="FFFF66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2" name="Picture 1" descr="Diagram&#10;&#10;Description automatically generated">
            <a:extLst>
              <a:ext uri="{FF2B5EF4-FFF2-40B4-BE49-F238E27FC236}">
                <a16:creationId xmlns:a16="http://schemas.microsoft.com/office/drawing/2014/main" id="{5E8DFE3F-E342-EE9D-6075-19BEC6A21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103" y="139178"/>
            <a:ext cx="1072701" cy="773516"/>
          </a:xfrm>
          <a:prstGeom prst="rect">
            <a:avLst/>
          </a:prstGeom>
        </p:spPr>
      </p:pic>
      <p:pic>
        <p:nvPicPr>
          <p:cNvPr id="3" name="Picture 2" descr="MTI University">
            <a:extLst>
              <a:ext uri="{FF2B5EF4-FFF2-40B4-BE49-F238E27FC236}">
                <a16:creationId xmlns:a16="http://schemas.microsoft.com/office/drawing/2014/main" id="{B54EDBB6-EE53-B25B-120A-17BE4CC9226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76205" y="110608"/>
            <a:ext cx="1072701" cy="653703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E0C330-84C8-61AD-4BDC-A967EC017BE3}"/>
              </a:ext>
            </a:extLst>
          </p:cNvPr>
          <p:cNvSpPr txBox="1"/>
          <p:nvPr/>
        </p:nvSpPr>
        <p:spPr>
          <a:xfrm>
            <a:off x="-190500" y="1320143"/>
            <a:ext cx="56388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l-PL" sz="2400" b="1" dirty="0"/>
          </a:p>
          <a:p>
            <a:r>
              <a:rPr lang="pl-PL" sz="2400" b="1" dirty="0"/>
              <a:t>                                                                          C</a:t>
            </a:r>
            <a:r>
              <a:rPr lang="en-US" sz="2400" b="1" dirty="0" err="1"/>
              <a:t>i</a:t>
            </a:r>
            <a:endParaRPr lang="pl-PL" sz="2400" b="1" dirty="0"/>
          </a:p>
          <a:p>
            <a:r>
              <a:rPr lang="pl-PL" sz="2400" b="1" dirty="0"/>
              <a:t>                                         pKa = pH  </a:t>
            </a:r>
            <a:r>
              <a:rPr lang="en-US" sz="2400" b="1" dirty="0"/>
              <a:t>-</a:t>
            </a:r>
            <a:r>
              <a:rPr lang="pl-PL" sz="2400" b="1" dirty="0"/>
              <a:t>  log                </a:t>
            </a:r>
          </a:p>
          <a:p>
            <a:r>
              <a:rPr lang="pl-PL" sz="2400" b="1" dirty="0"/>
              <a:t>                                                                          C</a:t>
            </a:r>
            <a:r>
              <a:rPr lang="en-US" sz="2400" b="1" dirty="0"/>
              <a:t>u</a:t>
            </a:r>
            <a:endParaRPr lang="pl-PL" sz="2400" b="1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0A886C0-3A0D-E21D-47E4-096C7FC6F21C}"/>
              </a:ext>
            </a:extLst>
          </p:cNvPr>
          <p:cNvCxnSpPr/>
          <p:nvPr/>
        </p:nvCxnSpPr>
        <p:spPr>
          <a:xfrm>
            <a:off x="4800601" y="2286000"/>
            <a:ext cx="5715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D5C5873-475A-C389-79FC-367BE8BCCB20}"/>
              </a:ext>
            </a:extLst>
          </p:cNvPr>
          <p:cNvCxnSpPr/>
          <p:nvPr/>
        </p:nvCxnSpPr>
        <p:spPr>
          <a:xfrm>
            <a:off x="2743201" y="3276600"/>
            <a:ext cx="5715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0" y="5"/>
            <a:ext cx="9144000" cy="3263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95248" indent="-95248" algn="ctr">
              <a:defRPr/>
            </a:pPr>
            <a:br>
              <a:rPr lang="en-US" sz="4000" b="1" dirty="0">
                <a:solidFill>
                  <a:srgbClr val="0070C0"/>
                </a:solidFill>
                <a:latin typeface="Arial" charset="0"/>
              </a:rPr>
            </a:br>
            <a:r>
              <a:rPr lang="en-US" sz="4000" b="1" dirty="0">
                <a:solidFill>
                  <a:srgbClr val="0070C0"/>
                </a:solidFill>
                <a:latin typeface="Arial" charset="0"/>
              </a:rPr>
              <a:t>Problem 2</a:t>
            </a:r>
          </a:p>
          <a:p>
            <a:pPr marL="95248" indent="-95248" algn="just"/>
            <a:endParaRPr lang="en-US" sz="2400" b="1" dirty="0">
              <a:solidFill>
                <a:srgbClr val="66FFFF"/>
              </a:solidFill>
              <a:latin typeface="Arial" charset="0"/>
            </a:endParaRPr>
          </a:p>
          <a:p>
            <a:pPr marL="95248" indent="-95248" algn="justLow">
              <a:spcBef>
                <a:spcPct val="50000"/>
              </a:spcBef>
            </a:pPr>
            <a:r>
              <a:rPr lang="en-US" sz="2400" dirty="0">
                <a:latin typeface="Arial" charset="0"/>
                <a:cs typeface="Times New Roman" pitchFamily="1" charset="0"/>
              </a:rPr>
              <a:t>2. What is the pH of a buffer solution prepared with 0.05 M sodium borate and 0.005 M boric acid? The </a:t>
            </a:r>
            <a:r>
              <a:rPr lang="en-US" sz="2400" dirty="0" err="1">
                <a:latin typeface="Arial" charset="0"/>
                <a:cs typeface="Times New Roman" pitchFamily="1" charset="0"/>
              </a:rPr>
              <a:t>pKa</a:t>
            </a:r>
            <a:r>
              <a:rPr lang="en-US" sz="2400" dirty="0">
                <a:latin typeface="Arial" charset="0"/>
                <a:cs typeface="Times New Roman" pitchFamily="1" charset="0"/>
              </a:rPr>
              <a:t> value of boric acid is 9.24 at 25</a:t>
            </a:r>
            <a:r>
              <a:rPr lang="en-US" sz="2400" baseline="30000" dirty="0">
                <a:latin typeface="Arial" charset="0"/>
                <a:cs typeface="Times New Roman" pitchFamily="1" charset="0"/>
              </a:rPr>
              <a:t>o</a:t>
            </a:r>
            <a:r>
              <a:rPr lang="en-US" sz="2400" dirty="0">
                <a:latin typeface="Arial" charset="0"/>
                <a:cs typeface="Times New Roman" pitchFamily="1" charset="0"/>
              </a:rPr>
              <a:t>C?</a:t>
            </a:r>
            <a:endParaRPr lang="ar-SA" sz="2400" dirty="0">
              <a:latin typeface="Arial" charset="0"/>
              <a:cs typeface="Times New Roman" pitchFamily="1" charset="0"/>
            </a:endParaRPr>
          </a:p>
          <a:p>
            <a:pPr marL="95248" indent="-95248" algn="justLow">
              <a:lnSpc>
                <a:spcPct val="75000"/>
              </a:lnSpc>
            </a:pPr>
            <a:r>
              <a:rPr lang="en-GB" sz="2400" b="1" dirty="0">
                <a:solidFill>
                  <a:schemeClr val="bg1"/>
                </a:solidFill>
                <a:latin typeface="arial" panose="020B0604020202020204" pitchFamily="34" charset="0"/>
                <a:cs typeface="Times New Roman" pitchFamily="1" charset="0"/>
              </a:rPr>
              <a:t>213.796</a:t>
            </a:r>
            <a:r>
              <a:rPr lang="ar-SA" sz="2400" baseline="30000" dirty="0">
                <a:solidFill>
                  <a:schemeClr val="bg1"/>
                </a:solidFill>
                <a:latin typeface="Arial" charset="0"/>
                <a:cs typeface="Times New Roman" pitchFamily="1" charset="0"/>
              </a:rPr>
              <a:t> </a:t>
            </a:r>
            <a:r>
              <a:rPr lang="en-US" sz="2400" dirty="0">
                <a:solidFill>
                  <a:schemeClr val="bg1"/>
                </a:solidFill>
                <a:latin typeface="Arial" charset="0"/>
                <a:cs typeface="Times New Roman" pitchFamily="1" charset="0"/>
              </a:rPr>
              <a:t>: 1</a:t>
            </a:r>
          </a:p>
        </p:txBody>
      </p:sp>
      <p:pic>
        <p:nvPicPr>
          <p:cNvPr id="2" name="Picture 1" descr="Diagram&#10;&#10;Description automatically generated">
            <a:extLst>
              <a:ext uri="{FF2B5EF4-FFF2-40B4-BE49-F238E27FC236}">
                <a16:creationId xmlns:a16="http://schemas.microsoft.com/office/drawing/2014/main" id="{D72D7599-78DD-AF6E-8FB0-7DCF5CC20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103" y="139178"/>
            <a:ext cx="1072701" cy="773516"/>
          </a:xfrm>
          <a:prstGeom prst="rect">
            <a:avLst/>
          </a:prstGeom>
        </p:spPr>
      </p:pic>
      <p:pic>
        <p:nvPicPr>
          <p:cNvPr id="3" name="Picture 2" descr="MTI University">
            <a:extLst>
              <a:ext uri="{FF2B5EF4-FFF2-40B4-BE49-F238E27FC236}">
                <a16:creationId xmlns:a16="http://schemas.microsoft.com/office/drawing/2014/main" id="{E64401EF-929A-EA16-0A79-B200A16180E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76205" y="110608"/>
            <a:ext cx="1072701" cy="653703"/>
          </a:xfrm>
          <a:prstGeom prst="rect">
            <a:avLst/>
          </a:prstGeom>
          <a:noFill/>
        </p:spPr>
      </p:pic>
      <p:sp>
        <p:nvSpPr>
          <p:cNvPr id="4" name="Line 4">
            <a:extLst>
              <a:ext uri="{FF2B5EF4-FFF2-40B4-BE49-F238E27FC236}">
                <a16:creationId xmlns:a16="http://schemas.microsoft.com/office/drawing/2014/main" id="{A3D09F7E-129D-3C6C-121E-218099A6B4BF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4639" y="1371600"/>
            <a:ext cx="3581400" cy="0"/>
          </a:xfrm>
          <a:prstGeom prst="line">
            <a:avLst/>
          </a:prstGeom>
          <a:noFill/>
          <a:ln w="76200">
            <a:solidFill>
              <a:srgbClr val="FFFF66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3296FEFB-9B3E-EF01-BE52-F0B30C0B4BF2}"/>
              </a:ext>
            </a:extLst>
          </p:cNvPr>
          <p:cNvPicPr/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83283" y="3545860"/>
            <a:ext cx="6611816" cy="209294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36BD314-CA28-DEAD-925B-40EFAC0935F0}"/>
              </a:ext>
            </a:extLst>
          </p:cNvPr>
          <p:cNvSpPr/>
          <p:nvPr/>
        </p:nvSpPr>
        <p:spPr>
          <a:xfrm>
            <a:off x="4800600" y="5410205"/>
            <a:ext cx="2057400" cy="457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997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216.jpeg">
            <a:extLst>
              <a:ext uri="{FF2B5EF4-FFF2-40B4-BE49-F238E27FC236}">
                <a16:creationId xmlns:a16="http://schemas.microsoft.com/office/drawing/2014/main" id="{6F37D679-7965-03F1-86A3-15CDF22CE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75000"/>
                    </a14:imgEffect>
                    <a14:imgEffect>
                      <a14:colorTemperature colorTemp="5300"/>
                    </a14:imgEffect>
                    <a14:imgEffect>
                      <a14:saturation sat="102000"/>
                    </a14:imgEffect>
                    <a14:imgEffect>
                      <a14:brightnessContrast contrast="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" y="278487"/>
            <a:ext cx="9144000" cy="6553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418D5DB-1F37-2CF0-04C4-FCFE9C2A070A}"/>
              </a:ext>
            </a:extLst>
          </p:cNvPr>
          <p:cNvSpPr txBox="1"/>
          <p:nvPr/>
        </p:nvSpPr>
        <p:spPr>
          <a:xfrm>
            <a:off x="1981200" y="-152400"/>
            <a:ext cx="44196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Arial" charset="0"/>
              </a:rPr>
              <a:t>                     </a:t>
            </a:r>
            <a:r>
              <a:rPr lang="en-US" sz="3200" b="1" u="sng" dirty="0">
                <a:solidFill>
                  <a:srgbClr val="0070C0"/>
                </a:solidFill>
                <a:latin typeface="Arial" charset="0"/>
              </a:rPr>
              <a:t>Problem 3</a:t>
            </a: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C0B470DB-6C3F-FA49-7CD8-C421816B08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5400" b="1" u="sng" dirty="0">
                <a:solidFill>
                  <a:schemeClr val="accent1"/>
                </a:solidFill>
              </a:rPr>
              <a:t>Activity</a:t>
            </a:r>
            <a:endParaRPr lang="ar-EG" altLang="en-US" sz="5400" b="1" u="sng" dirty="0">
              <a:solidFill>
                <a:schemeClr val="accent1"/>
              </a:solidFill>
            </a:endParaRPr>
          </a:p>
        </p:txBody>
      </p:sp>
      <p:sp>
        <p:nvSpPr>
          <p:cNvPr id="15363" name="TextBox 4">
            <a:extLst>
              <a:ext uri="{FF2B5EF4-FFF2-40B4-BE49-F238E27FC236}">
                <a16:creationId xmlns:a16="http://schemas.microsoft.com/office/drawing/2014/main" id="{4E7D42BC-9DBD-F51A-8B15-9BC1EF4317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023" y="1671090"/>
            <a:ext cx="8961292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1) If acetic acid acetate buffer is prepared containing 1.00 M acetic acid and 1.00 M sodium acetate. (</a:t>
            </a:r>
            <a:r>
              <a:rPr lang="en-US" altLang="en-US" sz="2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pK</a:t>
            </a:r>
            <a:r>
              <a:rPr lang="en-US" altLang="en-US" sz="2800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 of acetic acid is 4.752);What is its pH?</a:t>
            </a:r>
            <a:endParaRPr lang="ar-EG" altLang="en-US" sz="2800" dirty="0"/>
          </a:p>
        </p:txBody>
      </p:sp>
      <p:sp>
        <p:nvSpPr>
          <p:cNvPr id="15364" name="TextBox 6">
            <a:extLst>
              <a:ext uri="{FF2B5EF4-FFF2-40B4-BE49-F238E27FC236}">
                <a16:creationId xmlns:a16="http://schemas.microsoft.com/office/drawing/2014/main" id="{2A9F4590-DF11-BEC4-BFC3-9D457F0E94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707" y="3352515"/>
            <a:ext cx="9006608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2) Calculate the pH of a buffer solution composed of 0.700 M formic acid (HCOOH, K</a:t>
            </a:r>
            <a:r>
              <a:rPr lang="en-US" altLang="en-US" sz="2800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 = 1.77 x 10¯</a:t>
            </a:r>
            <a:r>
              <a:rPr lang="en-US" altLang="en-US" sz="2800" baseline="300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) and 0.500 M sodium </a:t>
            </a:r>
            <a:r>
              <a:rPr lang="en-US" altLang="en-US" sz="2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formate</a:t>
            </a:r>
            <a:r>
              <a:rPr lang="en-US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 (</a:t>
            </a:r>
            <a:r>
              <a:rPr lang="en-US" altLang="en-US" sz="2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HCOONa</a:t>
            </a:r>
            <a:r>
              <a:rPr lang="en-US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).</a:t>
            </a:r>
            <a:endParaRPr lang="ar-EG" altLang="en-US" sz="2800" dirty="0"/>
          </a:p>
        </p:txBody>
      </p:sp>
      <p:pic>
        <p:nvPicPr>
          <p:cNvPr id="2" name="Picture 1" descr="Diagram&#10;&#10;Description automatically generated">
            <a:extLst>
              <a:ext uri="{FF2B5EF4-FFF2-40B4-BE49-F238E27FC236}">
                <a16:creationId xmlns:a16="http://schemas.microsoft.com/office/drawing/2014/main" id="{26E93BE2-3E8A-B999-0256-2E58EC850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103" y="139178"/>
            <a:ext cx="1072701" cy="773516"/>
          </a:xfrm>
          <a:prstGeom prst="rect">
            <a:avLst/>
          </a:prstGeom>
        </p:spPr>
      </p:pic>
      <p:pic>
        <p:nvPicPr>
          <p:cNvPr id="3" name="Picture 2" descr="MTI University">
            <a:extLst>
              <a:ext uri="{FF2B5EF4-FFF2-40B4-BE49-F238E27FC236}">
                <a16:creationId xmlns:a16="http://schemas.microsoft.com/office/drawing/2014/main" id="{E4FCF3D4-5BBF-FA81-47FA-A3EE2D38260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76205" y="110608"/>
            <a:ext cx="1072701" cy="653703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39DB8-33BE-07E1-4E33-923137C93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926960CA-7C35-CD3D-494C-32F276D3A0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5400" b="1" u="sng" dirty="0">
                <a:solidFill>
                  <a:schemeClr val="accent1"/>
                </a:solidFill>
              </a:rPr>
              <a:t>Adsorption </a:t>
            </a:r>
            <a:endParaRPr lang="ar-EG" altLang="en-US" sz="5400" b="1" u="sng" dirty="0">
              <a:solidFill>
                <a:schemeClr val="accent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BD161A-DEFC-F60B-CDB9-F1CE96D30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71600"/>
            <a:ext cx="9144000" cy="5486400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24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Adsorption: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process where molecules are held at the surface of a solid. This phenomenon occurs on solid surfaces to reduce surface free energy, and at liquid interfaces to reduce interfacial tension</a:t>
            </a:r>
            <a:r>
              <a:rPr lang="en-US" sz="24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Adsorbent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substance on the surface of which adsorption takes place.</a:t>
            </a:r>
          </a:p>
          <a:p>
            <a:pPr>
              <a:lnSpc>
                <a:spcPct val="100000"/>
              </a:lnSpc>
            </a:pPr>
            <a:r>
              <a:rPr lang="en-US" sz="24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Adsorbate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substance which is being adsorbed on the surface of another substance.</a:t>
            </a:r>
          </a:p>
          <a:p>
            <a:pPr>
              <a:lnSpc>
                <a:spcPct val="100000"/>
              </a:lnSpc>
            </a:pPr>
            <a:r>
              <a:rPr lang="en-US" sz="24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Desorption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process of removal of an adsorbed substance from the surface on which it is adsorbed</a:t>
            </a:r>
          </a:p>
          <a:p>
            <a:pPr algn="ctr"/>
            <a:r>
              <a:rPr lang="en-US" sz="24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common adsorbent materials </a:t>
            </a:r>
          </a:p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Activated Carbon.</a:t>
            </a:r>
          </a:p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Activated Alumina.</a:t>
            </a:r>
          </a:p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Silica Gel.</a:t>
            </a:r>
          </a:p>
        </p:txBody>
      </p:sp>
      <p:pic>
        <p:nvPicPr>
          <p:cNvPr id="2" name="Picture 1" descr="Diagram&#10;&#10;Description automatically generated">
            <a:extLst>
              <a:ext uri="{FF2B5EF4-FFF2-40B4-BE49-F238E27FC236}">
                <a16:creationId xmlns:a16="http://schemas.microsoft.com/office/drawing/2014/main" id="{5A4F4C90-AC71-0718-D878-6330F8A82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103" y="139178"/>
            <a:ext cx="1072701" cy="773516"/>
          </a:xfrm>
          <a:prstGeom prst="rect">
            <a:avLst/>
          </a:prstGeom>
        </p:spPr>
      </p:pic>
      <p:pic>
        <p:nvPicPr>
          <p:cNvPr id="3" name="Picture 2" descr="MTI University">
            <a:extLst>
              <a:ext uri="{FF2B5EF4-FFF2-40B4-BE49-F238E27FC236}">
                <a16:creationId xmlns:a16="http://schemas.microsoft.com/office/drawing/2014/main" id="{FF2ED04A-3850-2D09-464D-46BCD5F9F74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76205" y="110608"/>
            <a:ext cx="1072701" cy="653703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E5D52C-7B96-4D4E-6DAA-F0EEDBD597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400" y="4785239"/>
            <a:ext cx="1752600" cy="11662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B3289E-1D28-4CA8-0E22-24E10DDF42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5635837"/>
            <a:ext cx="1222163" cy="12221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97676AA-A30D-A44B-4B38-F9D36D17A7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6030" y="5486400"/>
            <a:ext cx="1463161" cy="109595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121709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24FF7-219A-5651-6AA8-9B971EE15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C2C8A8FE-177B-B4B3-1B47-BAE2DD4257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5400" b="1" u="sng" dirty="0">
                <a:solidFill>
                  <a:schemeClr val="accent1"/>
                </a:solidFill>
              </a:rPr>
              <a:t>Types of Adsorption </a:t>
            </a:r>
            <a:endParaRPr lang="ar-EG" altLang="en-US" sz="5400" b="1" u="sng" dirty="0">
              <a:solidFill>
                <a:schemeClr val="accent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33F00B-DC3B-17E0-5478-359EFF337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71600"/>
            <a:ext cx="9144000" cy="5486400"/>
          </a:xfrm>
        </p:spPr>
        <p:txBody>
          <a:bodyPr>
            <a:normAutofit/>
          </a:bodyPr>
          <a:lstStyle/>
          <a:p>
            <a:r>
              <a:rPr lang="en-US" sz="24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Adsorption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Occurs when the concentration of adsorbate is higher on the surface of adsorbent than in the bulk.</a:t>
            </a:r>
          </a:p>
          <a:p>
            <a:r>
              <a:rPr lang="en-US" sz="24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Adsorption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Occurs when the concentration of adsorbate is less on the surface of adsorbent than in the bulk.</a:t>
            </a:r>
          </a:p>
          <a:p>
            <a:pPr algn="ctr"/>
            <a:r>
              <a:rPr lang="en-US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Factors affecting Adsorption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 of adsorbate: The easily liquifiable gases NH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HCl, CO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adsorbed to a greater extent than the permanent gases such as H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 of temperature: Adsorption decreases with increase in temperature.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 of pressure: An increase in pressure causes an increase in the magnitude of adsorption of an adsorbent.</a:t>
            </a:r>
          </a:p>
        </p:txBody>
      </p:sp>
      <p:pic>
        <p:nvPicPr>
          <p:cNvPr id="2" name="Picture 1" descr="Diagram&#10;&#10;Description automatically generated">
            <a:extLst>
              <a:ext uri="{FF2B5EF4-FFF2-40B4-BE49-F238E27FC236}">
                <a16:creationId xmlns:a16="http://schemas.microsoft.com/office/drawing/2014/main" id="{042153B0-68CC-B192-AC5C-C34A1B865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5103" y="139178"/>
            <a:ext cx="1072701" cy="773516"/>
          </a:xfrm>
          <a:prstGeom prst="rect">
            <a:avLst/>
          </a:prstGeom>
        </p:spPr>
      </p:pic>
      <p:pic>
        <p:nvPicPr>
          <p:cNvPr id="3" name="Picture 2" descr="MTI University">
            <a:extLst>
              <a:ext uri="{FF2B5EF4-FFF2-40B4-BE49-F238E27FC236}">
                <a16:creationId xmlns:a16="http://schemas.microsoft.com/office/drawing/2014/main" id="{5FC9719D-DE37-7584-4973-A135545D0D71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76205" y="110608"/>
            <a:ext cx="1072701" cy="65370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7383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FC832-07DC-87B6-101C-99FC93B8E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B61A74BE-A73C-8912-3288-EF9FBB0C53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en-US" sz="5400" b="1" u="sng" dirty="0">
                <a:solidFill>
                  <a:schemeClr val="accent1"/>
                </a:solidFill>
              </a:rPr>
              <a:t> Frendlich Isotherm Equation</a:t>
            </a:r>
            <a:endParaRPr lang="ar-EG" altLang="en-US" sz="5400" b="1" u="sng" dirty="0">
              <a:solidFill>
                <a:schemeClr val="accent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8F3D5E-B440-1CBC-BAF4-E27C90EDC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71600"/>
            <a:ext cx="9144000" cy="54864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Freundlich Isotherm :</a:t>
            </a:r>
          </a:p>
          <a:p>
            <a:pPr>
              <a:lnSpc>
                <a:spcPct val="11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by Herbert Freundlich (1906).</a:t>
            </a:r>
          </a:p>
          <a:p>
            <a:pPr>
              <a:lnSpc>
                <a:spcPct val="11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Describes adsorption on heterogeneous surfaces (multilayer adsorption) : It assumes that the surface has varied adsorption sites with different adsorption energies.</a:t>
            </a:r>
          </a:p>
          <a:p>
            <a:pPr>
              <a:lnSpc>
                <a:spcPct val="11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Excellent for intermediate concentration &amp; pressure ranges. </a:t>
            </a:r>
          </a:p>
          <a:p>
            <a:pPr algn="ctr"/>
            <a:r>
              <a:rPr lang="en-US" sz="24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Freundlich isotherm</a:t>
            </a:r>
          </a:p>
          <a:p>
            <a:pPr marL="457200" indent="-457200" algn="ctr">
              <a:buFont typeface="+mj-lt"/>
              <a:buAutoNum type="arabicPeriod"/>
            </a:pP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Fails at very high pressures or concentrations.</a:t>
            </a:r>
          </a:p>
          <a:p>
            <a:pPr marL="457200" indent="-457200" algn="ctr">
              <a:buFont typeface="+mj-lt"/>
              <a:buAutoNum type="arabicPeriod"/>
            </a:pP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Does not account for true multilayer adsorption coverage at saturation.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Diagram&#10;&#10;Description automatically generated">
            <a:extLst>
              <a:ext uri="{FF2B5EF4-FFF2-40B4-BE49-F238E27FC236}">
                <a16:creationId xmlns:a16="http://schemas.microsoft.com/office/drawing/2014/main" id="{52CC37B6-0E2D-3EE2-DE28-DDC00C8E5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103" y="139178"/>
            <a:ext cx="1072701" cy="773516"/>
          </a:xfrm>
          <a:prstGeom prst="rect">
            <a:avLst/>
          </a:prstGeom>
        </p:spPr>
      </p:pic>
      <p:pic>
        <p:nvPicPr>
          <p:cNvPr id="3" name="Picture 2" descr="MTI University">
            <a:extLst>
              <a:ext uri="{FF2B5EF4-FFF2-40B4-BE49-F238E27FC236}">
                <a16:creationId xmlns:a16="http://schemas.microsoft.com/office/drawing/2014/main" id="{53263B2F-6FC4-7A79-98FB-B6E00AE71A6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76205" y="110608"/>
            <a:ext cx="1072701" cy="65370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92552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EE64C-F685-025D-E891-D40FCAD42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E9B791E4-FC75-C550-ABF7-C4F6758C75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en-US" sz="5400" b="1" u="sng" dirty="0">
                <a:solidFill>
                  <a:schemeClr val="accent1"/>
                </a:solidFill>
              </a:rPr>
              <a:t> Frendlich Isotherm Equation</a:t>
            </a:r>
            <a:br>
              <a:rPr lang="en-US" altLang="en-US" sz="5400" b="1" u="sng" dirty="0">
                <a:solidFill>
                  <a:schemeClr val="accent1"/>
                </a:solidFill>
              </a:rPr>
            </a:br>
            <a:r>
              <a:rPr lang="en-US" altLang="en-US" sz="5400" b="1" u="sng" dirty="0">
                <a:solidFill>
                  <a:schemeClr val="accent1"/>
                </a:solidFill>
              </a:rPr>
              <a:t>(For gases)</a:t>
            </a:r>
            <a:endParaRPr lang="ar-EG" altLang="en-US" sz="5400" b="1" u="sng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712C357-830F-AFB8-AB27-E85908EA84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690692"/>
                <a:ext cx="5334000" cy="516730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Freundlich Equation for gases:</a:t>
                </a:r>
              </a:p>
              <a:p>
                <a:pPr marL="0" marR="0" lvl="0" indent="0" algn="l" defTabSz="685800" rtl="0" eaLnBrk="1" fontAlgn="auto" latinLnBrk="0" hangingPunct="1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kumimoji="0" lang="en-US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𝒙</m:t>
                          </m:r>
                        </m:num>
                        <m:den>
                          <m:r>
                            <a:rPr kumimoji="0" lang="en-US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𝒎</m:t>
                          </m:r>
                        </m:den>
                      </m:f>
                      <m:r>
                        <a:rPr kumimoji="0" lang="en-US" sz="24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kumimoji="0" lang="en-US" sz="24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𝐤</m:t>
                      </m:r>
                      <m:sSup>
                        <m:sSupPr>
                          <m:ctrlPr>
                            <a:rPr kumimoji="0" lang="en-US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kumimoji="0" lang="en-US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𝑷</m:t>
                          </m:r>
                        </m:e>
                        <m:sup>
                          <m:r>
                            <a:rPr kumimoji="0" lang="en-US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𝟏</m:t>
                          </m:r>
                          <m:r>
                            <a:rPr kumimoji="0" lang="en-US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𝒍𝒏</m:t>
                          </m:r>
                        </m:sup>
                      </m:sSup>
                    </m:oMath>
                  </m:oMathPara>
                </a14:m>
                <a:endParaRPr kumimoji="0" lang="en-US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marL="171450" marR="0" lvl="0" indent="-171450" algn="l" defTabSz="685800" rtl="0" eaLnBrk="1" fontAlgn="auto" latinLnBrk="0" hangingPunct="1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4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x: Mass of the solute (adsorbate) adsorbed</a:t>
                </a:r>
              </a:p>
              <a:p>
                <a:pPr marL="171450" marR="0" lvl="0" indent="-171450" algn="l" defTabSz="685800" rtl="0" eaLnBrk="1" fontAlgn="auto" latinLnBrk="0" hangingPunct="1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4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m: Mass of the adsorbent</a:t>
                </a:r>
              </a:p>
              <a:p>
                <a:pPr marL="171450" marR="0" lvl="0" indent="-171450" algn="l" defTabSz="685800" rtl="0" eaLnBrk="1" fontAlgn="auto" latinLnBrk="0" hangingPunct="1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en-US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kumimoji="0" lang="en-US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𝒙</m:t>
                        </m:r>
                      </m:num>
                      <m:den>
                        <m:r>
                          <a:rPr kumimoji="0" lang="en-US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𝒎</m:t>
                        </m:r>
                      </m:den>
                    </m:f>
                  </m:oMath>
                </a14:m>
                <a:r>
                  <a:rPr kumimoji="0" lang="en-US" sz="24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:  Amount adsorbed per unit mass of adsorbent</a:t>
                </a:r>
              </a:p>
              <a:p>
                <a:pPr marL="171450" marR="0" lvl="0" indent="-171450" algn="l" defTabSz="685800" rtl="0" eaLnBrk="1" fontAlgn="auto" latinLnBrk="0" hangingPunct="1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sz="2400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kumimoji="0" lang="en-US" sz="24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: Equilibrium pressure of gases.</a:t>
                </a:r>
              </a:p>
              <a:p>
                <a:pPr marL="171450" marR="0" lvl="0" indent="-171450" algn="l" defTabSz="685800" rtl="0" eaLnBrk="1" fontAlgn="auto" latinLnBrk="0" hangingPunct="1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4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k, and n :  Freundlich constants for a given system at a specific temperature</a:t>
                </a:r>
              </a:p>
              <a:p>
                <a:pPr marL="0" marR="0" lvl="0" indent="0" algn="l" defTabSz="685800" rtl="0" eaLnBrk="1" fontAlgn="auto" latinLnBrk="0" hangingPunct="1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712C357-830F-AFB8-AB27-E85908EA84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690692"/>
                <a:ext cx="5334000" cy="5167308"/>
              </a:xfrm>
              <a:blipFill>
                <a:blip r:embed="rId2"/>
                <a:stretch>
                  <a:fillRect l="-1714" t="-1651" r="-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Diagram&#10;&#10;Description automatically generated">
            <a:extLst>
              <a:ext uri="{FF2B5EF4-FFF2-40B4-BE49-F238E27FC236}">
                <a16:creationId xmlns:a16="http://schemas.microsoft.com/office/drawing/2014/main" id="{0CF0799E-3915-6B44-5DF5-0DA4CFE37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5103" y="139178"/>
            <a:ext cx="1072701" cy="773516"/>
          </a:xfrm>
          <a:prstGeom prst="rect">
            <a:avLst/>
          </a:prstGeom>
        </p:spPr>
      </p:pic>
      <p:pic>
        <p:nvPicPr>
          <p:cNvPr id="3" name="Picture 2" descr="MTI University">
            <a:extLst>
              <a:ext uri="{FF2B5EF4-FFF2-40B4-BE49-F238E27FC236}">
                <a16:creationId xmlns:a16="http://schemas.microsoft.com/office/drawing/2014/main" id="{A89428E8-272A-7A87-AA75-0115D045665E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76205" y="110608"/>
            <a:ext cx="1072701" cy="653703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A0626F-399B-E8E1-F33E-E903C673C1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839"/>
          <a:stretch>
            <a:fillRect/>
          </a:stretch>
        </p:blipFill>
        <p:spPr>
          <a:xfrm>
            <a:off x="4629150" y="1828800"/>
            <a:ext cx="3676650" cy="3338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106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07A1D-E53F-40A1-CAA1-334BF9BCB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03F2D3E7-A15F-87EF-547D-9E4C3071BF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en-US" sz="5400" b="1" u="sng" dirty="0">
                <a:solidFill>
                  <a:schemeClr val="accent1"/>
                </a:solidFill>
              </a:rPr>
              <a:t> Freundlich Isotherm Equation</a:t>
            </a:r>
            <a:br>
              <a:rPr lang="en-US" altLang="en-US" sz="5400" b="1" u="sng" dirty="0">
                <a:solidFill>
                  <a:schemeClr val="accent1"/>
                </a:solidFill>
              </a:rPr>
            </a:br>
            <a:r>
              <a:rPr lang="en-US" altLang="en-US" sz="5400" b="1" u="sng" dirty="0">
                <a:solidFill>
                  <a:schemeClr val="accent1"/>
                </a:solidFill>
              </a:rPr>
              <a:t>(For liquids)  </a:t>
            </a:r>
            <a:endParaRPr lang="ar-EG" altLang="en-US" sz="5400" b="1" u="sng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B5BE71C-394C-20B4-ED2C-E1195ADEEA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690692"/>
                <a:ext cx="9144000" cy="5167308"/>
              </a:xfrm>
            </p:spPr>
            <p:txBody>
              <a:bodyPr>
                <a:normAutofit fontScale="92500"/>
              </a:bodyPr>
              <a:lstStyle/>
              <a:p>
                <a:pPr marL="171450" marR="0" lvl="0" indent="-171450" algn="l" defTabSz="685800" rtl="0" eaLnBrk="1" fontAlgn="auto" latinLnBrk="0" hangingPunct="1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400" b="1" i="1" u="sng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Freundlich Equation for Solution:</a:t>
                </a:r>
              </a:p>
              <a:p>
                <a:pPr marL="0" marR="0" lvl="0" indent="0" algn="l" defTabSz="685800" rtl="0" eaLnBrk="1" fontAlgn="auto" latinLnBrk="0" hangingPunct="1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2400" b="1" i="1" u="sng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marL="0" marR="0" lvl="0" indent="0" algn="l" defTabSz="685800" rtl="0" eaLnBrk="1" fontAlgn="auto" latinLnBrk="0" hangingPunct="1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kumimoji="0" lang="en-US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𝒙</m:t>
                          </m:r>
                        </m:num>
                        <m:den>
                          <m:r>
                            <a:rPr kumimoji="0" lang="en-US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𝒎</m:t>
                          </m:r>
                        </m:den>
                      </m:f>
                      <m:r>
                        <a:rPr kumimoji="0" lang="en-US" sz="24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kumimoji="0" lang="en-US" sz="24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𝐤</m:t>
                      </m:r>
                      <m:sSup>
                        <m:sSupPr>
                          <m:ctrlPr>
                            <a:rPr kumimoji="0" lang="en-US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kumimoji="0" lang="en-US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𝑪</m:t>
                          </m:r>
                        </m:e>
                        <m:sup>
                          <m:r>
                            <a:rPr kumimoji="0" lang="en-US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𝟏</m:t>
                          </m:r>
                          <m:r>
                            <a:rPr kumimoji="0" lang="en-US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𝒍𝒏</m:t>
                          </m:r>
                        </m:sup>
                      </m:sSup>
                    </m:oMath>
                  </m:oMathPara>
                </a14:m>
                <a:endParaRPr lang="en-US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x: Mass of the solute (adsorbate) adsorbed</a:t>
                </a:r>
              </a:p>
              <a:p>
                <a:r>
                  <a:rPr lang="en-US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m: Mass of the adsorbent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num>
                      <m:den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𝒎</m:t>
                        </m:r>
                      </m:den>
                    </m:f>
                  </m:oMath>
                </a14:m>
                <a:r>
                  <a:rPr lang="en-US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 Amount adsorbed per unit mass of adsorbent</a:t>
                </a:r>
              </a:p>
              <a:p>
                <a:r>
                  <a:rPr lang="en-US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C: Equilibrium concentration of the solute in solution.</a:t>
                </a:r>
              </a:p>
              <a:p>
                <a:r>
                  <a:rPr lang="en-US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k, and n :  Freundlich constants for a given system at a specific temperature</a:t>
                </a:r>
              </a:p>
              <a:p>
                <a:r>
                  <a:rPr lang="en-US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k: Related to adsorption capacity.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den>
                    </m:f>
                  </m:oMath>
                </a14:m>
                <a:r>
                  <a:rPr lang="en-US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Related to adsorption intensity. ( if n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</m:oMath>
                </a14:m>
                <a:r>
                  <a:rPr lang="en-US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 : favorable adsorption –  if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den>
                    </m:f>
                    <m:r>
                      <a:rPr lang="en-US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very small : strong adsorption – if n =1 : The adsorption is linear (proportional to concentration)).</a:t>
                </a:r>
              </a:p>
              <a:p>
                <a:endParaRPr lang="en-US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B5BE71C-394C-20B4-ED2C-E1195ADEEA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690692"/>
                <a:ext cx="9144000" cy="5167308"/>
              </a:xfrm>
              <a:blipFill>
                <a:blip r:embed="rId3"/>
                <a:stretch>
                  <a:fillRect l="-733" t="-1297" r="-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Diagram&#10;&#10;Description automatically generated">
            <a:extLst>
              <a:ext uri="{FF2B5EF4-FFF2-40B4-BE49-F238E27FC236}">
                <a16:creationId xmlns:a16="http://schemas.microsoft.com/office/drawing/2014/main" id="{B3632C1D-1283-390A-E0CE-E2F77B4D24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5103" y="139178"/>
            <a:ext cx="1072701" cy="773516"/>
          </a:xfrm>
          <a:prstGeom prst="rect">
            <a:avLst/>
          </a:prstGeom>
        </p:spPr>
      </p:pic>
      <p:pic>
        <p:nvPicPr>
          <p:cNvPr id="3" name="Picture 2" descr="MTI University">
            <a:extLst>
              <a:ext uri="{FF2B5EF4-FFF2-40B4-BE49-F238E27FC236}">
                <a16:creationId xmlns:a16="http://schemas.microsoft.com/office/drawing/2014/main" id="{6FC5BF03-3950-E16D-84AA-7B6F3F353035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76205" y="110608"/>
            <a:ext cx="1072701" cy="65370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539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C81D2-9DE7-6ED4-E1BD-4EF542E4D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D1217037-F947-22B3-0C6C-BC3075F339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en-US" sz="5400" b="1" u="sng" dirty="0">
                <a:solidFill>
                  <a:schemeClr val="accent1"/>
                </a:solidFill>
              </a:rPr>
              <a:t>  </a:t>
            </a:r>
            <a:r>
              <a:rPr lang="en-US" altLang="en-US" sz="5400" b="1" i="1" u="sng" dirty="0">
                <a:solidFill>
                  <a:schemeClr val="accent1"/>
                </a:solidFill>
              </a:rPr>
              <a:t>Freundlich isotherm</a:t>
            </a:r>
            <a:r>
              <a:rPr lang="en-US" altLang="en-US" sz="5400" b="1" u="sng" dirty="0">
                <a:solidFill>
                  <a:schemeClr val="accent1"/>
                </a:solidFill>
              </a:rPr>
              <a:t> activity</a:t>
            </a:r>
            <a:endParaRPr lang="ar-EG" altLang="en-US" sz="5400" b="1" u="sng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AB03BF7-31BF-DCBF-2DB1-AA0B634583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71600"/>
                <a:ext cx="9067804" cy="5375791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Calculate the amount of propionic acid that will be adsorbed at equilibrium on an adsorbent X given:</a:t>
                </a:r>
              </a:p>
              <a:p>
                <a:r>
                  <a:rPr lang="en-US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Equilibrium concentration (C): 0.02 mole/L. </a:t>
                </a:r>
              </a:p>
              <a:p>
                <a:r>
                  <a:rPr lang="en-US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Freundlich constants: n = 2.32 and K = 0.16.</a:t>
                </a:r>
              </a:p>
              <a:p>
                <a:pPr algn="ctr"/>
                <a:r>
                  <a:rPr lang="en-US" sz="2400" b="1" i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Solution</a:t>
                </a:r>
                <a:r>
                  <a:rPr lang="en-US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num>
                        <m:den>
                          <m:r>
                            <a:rPr lang="en-US" sz="24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𝒎</m:t>
                          </m:r>
                        </m:den>
                      </m:f>
                      <m:r>
                        <a:rPr lang="en-US" sz="2400" b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400" b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𝐤</m:t>
                      </m:r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𝑪</m:t>
                          </m:r>
                        </m:e>
                        <m:sup>
                          <m:r>
                            <a:rPr lang="en-US" sz="24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𝒍𝒏</m:t>
                          </m:r>
                        </m:sup>
                      </m:sSup>
                    </m:oMath>
                  </m:oMathPara>
                </a14:m>
                <a:endParaRPr lang="en-US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First, calculate the exponent 1/n: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den>
                    </m:f>
                    <m:r>
                      <a:rPr lang="en-US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𝟑𝟐</m:t>
                        </m:r>
                      </m:den>
                    </m:f>
                    <m:r>
                      <a:rPr lang="en-US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𝟒𝟑𝟏</m:t>
                    </m:r>
                  </m:oMath>
                </a14:m>
                <a:endParaRPr lang="en-US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substitute the values into the equation: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num>
                      <m:den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𝒎</m:t>
                        </m:r>
                      </m:den>
                    </m:f>
                  </m:oMath>
                </a14:m>
                <a:r>
                  <a:rPr lang="en-US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0.16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𝟎𝟐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𝟒𝟑𝟏</m:t>
                        </m:r>
                      </m:sup>
                    </m:sSup>
                  </m:oMath>
                </a14:m>
                <a:r>
                  <a:rPr lang="en-US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endParaRPr lang="en-US" sz="2400" b="1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num>
                      <m:den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𝒎</m:t>
                        </m:r>
                      </m:den>
                    </m:f>
                    <m:r>
                      <a:rPr lang="en-US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𝟎𝟐𝟗𝟔</m:t>
                    </m:r>
                    <m:r>
                      <m:rPr>
                        <m:nor/>
                      </m:rPr>
                      <a:rPr lang="en-US" sz="24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mole</m:t>
                    </m:r>
                    <m:r>
                      <m:rPr>
                        <m:lit/>
                        <m:nor/>
                      </m:rPr>
                      <a:rPr lang="en-US" sz="24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m:rPr>
                        <m:nor/>
                      </m:rPr>
                      <a:rPr lang="en-US" sz="24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unit</m:t>
                    </m:r>
                    <m:r>
                      <m:rPr>
                        <m:nor/>
                      </m:rPr>
                      <a:rPr lang="en-US" sz="24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mass</m:t>
                    </m:r>
                  </m:oMath>
                </a14:m>
                <a:r>
                  <a:rPr lang="en-US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sz="2400" b="1" u="sng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value represents the "loading capacity." If you had 1 gram of the adsorbent (m = 1), then 0.0296 moles of propionic acid would be stuck to its surface at that specific concentration.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AB03BF7-31BF-DCBF-2DB1-AA0B634583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71600"/>
                <a:ext cx="9067804" cy="5375791"/>
              </a:xfrm>
              <a:blipFill>
                <a:blip r:embed="rId2"/>
                <a:stretch>
                  <a:fillRect l="-874" t="-2041" r="-11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Diagram&#10;&#10;Description automatically generated">
            <a:extLst>
              <a:ext uri="{FF2B5EF4-FFF2-40B4-BE49-F238E27FC236}">
                <a16:creationId xmlns:a16="http://schemas.microsoft.com/office/drawing/2014/main" id="{942D900D-3513-4D89-9625-9C318C316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5103" y="139178"/>
            <a:ext cx="1072701" cy="773516"/>
          </a:xfrm>
          <a:prstGeom prst="rect">
            <a:avLst/>
          </a:prstGeom>
        </p:spPr>
      </p:pic>
      <p:pic>
        <p:nvPicPr>
          <p:cNvPr id="3" name="Picture 2" descr="MTI University">
            <a:extLst>
              <a:ext uri="{FF2B5EF4-FFF2-40B4-BE49-F238E27FC236}">
                <a16:creationId xmlns:a16="http://schemas.microsoft.com/office/drawing/2014/main" id="{B486E414-F957-5203-A7A5-3797FA8DE1AB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76205" y="110608"/>
            <a:ext cx="1072701" cy="65370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1765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CAE114-A333-1022-3C8F-589973E2B1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22" b="17777"/>
          <a:stretch>
            <a:fillRect/>
          </a:stretch>
        </p:blipFill>
        <p:spPr>
          <a:xfrm>
            <a:off x="152400" y="15241"/>
            <a:ext cx="8686800" cy="693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726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00B7C3-7305-4225-268C-3D9DB0E0C0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9" t="12687" r="4259" b="32868"/>
          <a:stretch>
            <a:fillRect/>
          </a:stretch>
        </p:blipFill>
        <p:spPr>
          <a:xfrm>
            <a:off x="0" y="150396"/>
            <a:ext cx="9144000" cy="6707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749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0" name="Picture 12" descr="Thank you, hand lettering thank you with decorative graphic | Download on  Freepik">
            <a:extLst>
              <a:ext uri="{FF2B5EF4-FFF2-40B4-BE49-F238E27FC236}">
                <a16:creationId xmlns:a16="http://schemas.microsoft.com/office/drawing/2014/main" id="{2A965639-EC63-9ED7-B745-095F27D9A4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025" y="857251"/>
            <a:ext cx="721876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1514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1146</TotalTime>
  <Words>1297</Words>
  <Application>Microsoft Office PowerPoint</Application>
  <PresentationFormat>On-screen Show (4:3)</PresentationFormat>
  <Paragraphs>137</Paragraphs>
  <Slides>23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25" baseType="lpstr">
      <vt:lpstr>Office Theme</vt:lpstr>
      <vt:lpstr>Wisp</vt:lpstr>
      <vt:lpstr>PowerPoint Presentation</vt:lpstr>
      <vt:lpstr>PowerPoint Presentation</vt:lpstr>
      <vt:lpstr>PowerPoint Presentation</vt:lpstr>
      <vt:lpstr>Buffers and Buffer solutions</vt:lpstr>
      <vt:lpstr>Dissociation of water</vt:lpstr>
      <vt:lpstr>Dissociation (or ionization) constants and pKa: </vt:lpstr>
      <vt:lpstr>PowerPoint Presentation</vt:lpstr>
      <vt:lpstr>Dissociation (or ionization) constants and pKa: </vt:lpstr>
      <vt:lpstr>PowerPoint Presentation</vt:lpstr>
      <vt:lpstr>Buffer equations for weak bases</vt:lpstr>
      <vt:lpstr>PowerPoint Presentation</vt:lpstr>
      <vt:lpstr>PowerPoint Presentation</vt:lpstr>
      <vt:lpstr>PowerPoint Presentation</vt:lpstr>
      <vt:lpstr>Activity</vt:lpstr>
      <vt:lpstr>Adsorption </vt:lpstr>
      <vt:lpstr>Types of Adsorption </vt:lpstr>
      <vt:lpstr> Frendlich Isotherm Equation</vt:lpstr>
      <vt:lpstr> Frendlich Isotherm Equation (For gases)</vt:lpstr>
      <vt:lpstr> Freundlich Isotherm Equation (For liquids)  </vt:lpstr>
      <vt:lpstr>  Freundlich isotherm activity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Owner</dc:creator>
  <cp:lastModifiedBy>Asmaa Samy Mesalhy Omara</cp:lastModifiedBy>
  <cp:revision>53</cp:revision>
  <dcterms:created xsi:type="dcterms:W3CDTF">2014-07-12T11:45:58Z</dcterms:created>
  <dcterms:modified xsi:type="dcterms:W3CDTF">2026-04-25T18:55:19Z</dcterms:modified>
</cp:coreProperties>
</file>