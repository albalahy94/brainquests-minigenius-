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75" r:id="rId2"/>
    <p:sldId id="291" r:id="rId3"/>
    <p:sldId id="293" r:id="rId4"/>
    <p:sldId id="257" r:id="rId5"/>
    <p:sldId id="270" r:id="rId6"/>
    <p:sldId id="271" r:id="rId7"/>
    <p:sldId id="276" r:id="rId8"/>
    <p:sldId id="274" r:id="rId9"/>
    <p:sldId id="261" r:id="rId10"/>
    <p:sldId id="277" r:id="rId11"/>
    <p:sldId id="273" r:id="rId12"/>
    <p:sldId id="272" r:id="rId13"/>
    <p:sldId id="278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EA961-71B2-4CE3-BA5A-8518B2B2CD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E050E-D996-4BCC-AEEC-E97666D5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3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4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6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4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3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1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47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6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8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0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58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75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24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47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87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39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8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.xml" /><Relationship Id="rId5" Type="http://schemas.openxmlformats.org/officeDocument/2006/relationships/image" Target="../media/image6.gif" /><Relationship Id="rId4" Type="http://schemas.openxmlformats.org/officeDocument/2006/relationships/image" Target="../media/image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2.xml" /><Relationship Id="rId4" Type="http://schemas.openxmlformats.org/officeDocument/2006/relationships/hyperlink" Target="https://www.sciencedirect.com/topics/chemistry/amphophile" TargetMode="Externa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3.xml" /><Relationship Id="rId4" Type="http://schemas.openxmlformats.org/officeDocument/2006/relationships/image" Target="../media/image12.emf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4.xml" /><Relationship Id="rId4" Type="http://schemas.openxmlformats.org/officeDocument/2006/relationships/image" Target="../media/image13.emf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ChangeArrowheads="1"/>
          </p:cNvSpPr>
          <p:nvPr/>
        </p:nvSpPr>
        <p:spPr bwMode="auto">
          <a:xfrm>
            <a:off x="228600" y="2274887"/>
            <a:ext cx="8534399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4800" b="1" u="sng" dirty="0">
                <a:solidFill>
                  <a:srgbClr val="0180BF"/>
                </a:solidFill>
                <a:latin typeface="Times New Roman" pitchFamily="18" charset="0"/>
                <a:cs typeface="Times New Roman" pitchFamily="18" charset="0"/>
              </a:rPr>
              <a:t>Physical Pharmacy</a:t>
            </a:r>
          </a:p>
          <a:p>
            <a:pPr algn="ctr"/>
            <a:r>
              <a:rPr lang="en-US" altLang="en-US" sz="4800" b="1" u="sng" dirty="0">
                <a:solidFill>
                  <a:srgbClr val="0180BF"/>
                </a:solidFill>
                <a:latin typeface="Times New Roman" pitchFamily="18" charset="0"/>
                <a:cs typeface="Times New Roman" pitchFamily="18" charset="0"/>
              </a:rPr>
              <a:t> (PT 203)/ (CPT 203)</a:t>
            </a:r>
          </a:p>
          <a:p>
            <a:pPr algn="ctr"/>
            <a:r>
              <a:rPr lang="en-US" altLang="en-US" sz="4800" b="1" dirty="0">
                <a:solidFill>
                  <a:srgbClr val="0180BF"/>
                </a:solidFill>
                <a:latin typeface="Times New Roman" pitchFamily="18" charset="0"/>
                <a:cs typeface="Times New Roman" pitchFamily="18" charset="0"/>
              </a:rPr>
              <a:t>Lab 5</a:t>
            </a:r>
          </a:p>
          <a:p>
            <a:pPr algn="ctr"/>
            <a:r>
              <a:rPr lang="en-US" sz="4000" b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Determination of Critical Micelle Concentration</a:t>
            </a:r>
            <a:endParaRPr lang="en-US" altLang="en-US" sz="4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1" name="AutoShape 6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7655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tl\Downloads\IMG-20260206-WA0022(1)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4" r="3296" b="2862"/>
          <a:stretch/>
        </p:blipFill>
        <p:spPr bwMode="auto">
          <a:xfrm>
            <a:off x="696862" y="1059167"/>
            <a:ext cx="7477433" cy="481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63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5" t="23835" r="-3085" b="30753"/>
          <a:stretch/>
        </p:blipFill>
        <p:spPr>
          <a:xfrm>
            <a:off x="1272049" y="1001046"/>
            <a:ext cx="6880123" cy="45987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1884" y="2372645"/>
            <a:ext cx="5928852" cy="192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390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27098"/>
            <a:ext cx="8077200" cy="709865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Surface tension and interfacial tension phenomena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556491" y="2209800"/>
            <a:ext cx="8382000" cy="4525963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accent1"/>
                </a:solidFill>
              </a:rPr>
              <a:t>Surface</a:t>
            </a:r>
            <a:r>
              <a:rPr lang="en-US" dirty="0">
                <a:solidFill>
                  <a:srgbClr val="FF0000"/>
                </a:solidFill>
              </a:rPr>
              <a:t>: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Is the boundary between two phases one of them is gas or vacuum.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accent1"/>
                </a:solidFill>
              </a:rPr>
              <a:t>Interface: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Is the boundary between two phases which are immiscible.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algn="just">
              <a:buNone/>
              <a:defRPr/>
            </a:pPr>
            <a:r>
              <a:rPr lang="en-US" b="1" dirty="0"/>
              <a:t>N.B: Every surface is interface.</a:t>
            </a:r>
            <a:endParaRPr lang="en-US" b="1" dirty="0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2" t="7578" r="-341" b="70771"/>
          <a:stretch/>
        </p:blipFill>
        <p:spPr bwMode="auto">
          <a:xfrm>
            <a:off x="228600" y="4633061"/>
            <a:ext cx="4034559" cy="220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Untitled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43800" y="3581400"/>
            <a:ext cx="1295382" cy="3124201"/>
          </a:xfrm>
          <a:prstGeom prst="rect">
            <a:avLst/>
          </a:prstGeom>
        </p:spPr>
      </p:pic>
      <p:pic>
        <p:nvPicPr>
          <p:cNvPr id="7" name="Picture 5" descr="Water_drop_animation_enhanced_small"/>
          <p:cNvPicPr>
            <a:picLocks noChangeAspect="1" noChangeArrowheads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267200"/>
            <a:ext cx="251460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7680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55474" y="927098"/>
            <a:ext cx="7726526" cy="709865"/>
          </a:xfrm>
        </p:spPr>
        <p:txBody>
          <a:bodyPr/>
          <a:lstStyle/>
          <a:p>
            <a:pPr>
              <a:defRPr/>
            </a:pPr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Surface active agent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Surfactants)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2948" name="Picture 4" descr="Dodecylsulfate-3D-vd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74" y="2469370"/>
            <a:ext cx="6018213" cy="219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9" name="Line 5"/>
          <p:cNvSpPr>
            <a:spLocks noChangeShapeType="1"/>
          </p:cNvSpPr>
          <p:nvPr/>
        </p:nvSpPr>
        <p:spPr bwMode="auto">
          <a:xfrm>
            <a:off x="784856" y="4438182"/>
            <a:ext cx="5759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1035681" y="4648200"/>
            <a:ext cx="5257800" cy="6477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Hydrophobic</a:t>
            </a:r>
            <a:r>
              <a:rPr lang="en-US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tail</a:t>
            </a:r>
            <a:r>
              <a:rPr lang="en-US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(</a:t>
            </a:r>
            <a:r>
              <a:rPr lang="en-US" dirty="0" err="1">
                <a:solidFill>
                  <a:srgbClr val="1E135F"/>
                </a:solidFill>
                <a:latin typeface="Arial Black" pitchFamily="34" charset="0"/>
              </a:rPr>
              <a:t>lypophilic</a:t>
            </a: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) </a:t>
            </a:r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6772708" y="2773361"/>
            <a:ext cx="2159000" cy="15843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Hydrophilic</a:t>
            </a:r>
            <a:r>
              <a:rPr lang="en-US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head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(</a:t>
            </a:r>
            <a:r>
              <a:rPr lang="en-US" dirty="0" err="1">
                <a:solidFill>
                  <a:srgbClr val="1E135F"/>
                </a:solidFill>
                <a:latin typeface="Arial Black" pitchFamily="34" charset="0"/>
              </a:rPr>
              <a:t>lypophobic</a:t>
            </a:r>
            <a:r>
              <a:rPr lang="en-US" dirty="0">
                <a:solidFill>
                  <a:srgbClr val="1E135F"/>
                </a:solidFill>
                <a:latin typeface="Arial Black" pitchFamily="34" charset="0"/>
              </a:rPr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85595" y="5486400"/>
            <a:ext cx="8855508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Surfactants are </a:t>
            </a:r>
            <a:r>
              <a:rPr lang="en-US" sz="2000" dirty="0" err="1">
                <a:latin typeface="Times New Roman" pitchFamily="18" charset="0"/>
                <a:ea typeface="Tahoma" pitchFamily="34" charset="0"/>
                <a:cs typeface="Times New Roman" pitchFamily="18" charset="0"/>
                <a:hlinkClick r:id="rId4" tooltip="Learn more about amphiphilic compounds from ScienceDirect's AI-generated Topic Pages"/>
              </a:rPr>
              <a:t>amphiphilic</a:t>
            </a:r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  <a:hlinkClick r:id="rId4" tooltip="Learn more about amphiphilic compounds from ScienceDirect's AI-generated Topic Pages"/>
              </a:rPr>
              <a:t> compounds</a:t>
            </a:r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 with two opposing portions, one part is hydrophilic and the other is hydrophobic that decrease the surface tension or interfacial tension between two liquids, a liquid and a gas, or a liquid and a solid.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80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9" grpId="0" animBg="1"/>
      <p:bldP spid="82950" grpId="0" animBg="1"/>
      <p:bldP spid="829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0600"/>
            <a:ext cx="6343672" cy="709865"/>
          </a:xfrm>
        </p:spPr>
        <p:txBody>
          <a:bodyPr/>
          <a:lstStyle/>
          <a:p>
            <a:r>
              <a:rPr lang="en-US" b="1" u="sng" dirty="0"/>
              <a:t>Micelle formation:</a:t>
            </a:r>
          </a:p>
        </p:txBody>
      </p:sp>
      <p:pic>
        <p:nvPicPr>
          <p:cNvPr id="4" name="Picture 4" descr="solutio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133600"/>
            <a:ext cx="3886935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4592" y="4876800"/>
            <a:ext cx="8610600" cy="12618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000" b="1" u="sng" dirty="0">
                <a:latin typeface="Times New Roman" pitchFamily="18" charset="0"/>
                <a:cs typeface="Times New Roman" pitchFamily="18" charset="0"/>
              </a:rPr>
              <a:t>Critical micelle concentration </a:t>
            </a:r>
          </a:p>
          <a:p>
            <a:endParaRPr lang="en-US" sz="1000" b="1" u="sng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/>
              <a:t>defined as the concentration of surfactants above which micelles form and all additional surfactants added to the system will form micelles. </a:t>
            </a:r>
          </a:p>
        </p:txBody>
      </p:sp>
    </p:spTree>
    <p:extLst>
      <p:ext uri="{BB962C8B-B14F-4D97-AF65-F5344CB8AC3E}">
        <p14:creationId xmlns:p14="http://schemas.microsoft.com/office/powerpoint/2010/main" val="123026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82030"/>
            <a:ext cx="7772400" cy="709865"/>
          </a:xfrm>
        </p:spPr>
        <p:txBody>
          <a:bodyPr/>
          <a:lstStyle/>
          <a:p>
            <a:pPr algn="ctr"/>
            <a:r>
              <a:rPr lang="en-US" b="1" u="sng" dirty="0"/>
              <a:t>Measurement of surface tension</a:t>
            </a:r>
            <a:br>
              <a:rPr lang="en-US" b="1" u="sng" dirty="0"/>
            </a:br>
            <a:r>
              <a:rPr lang="en-US" b="1" u="sng" dirty="0"/>
              <a:t>Drop weight method</a:t>
            </a:r>
            <a:br>
              <a:rPr lang="en-US" u="sng" dirty="0">
                <a:solidFill>
                  <a:schemeClr val="tx2">
                    <a:lumMod val="90000"/>
                  </a:schemeClr>
                </a:solidFill>
              </a:rPr>
            </a:br>
            <a:br>
              <a:rPr lang="en-US" u="sng" dirty="0">
                <a:solidFill>
                  <a:schemeClr val="tx2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5" name="Rectangle 2"/>
          <p:cNvSpPr txBox="1">
            <a:spLocks noGrp="1" noChangeArrowheads="1"/>
          </p:cNvSpPr>
          <p:nvPr>
            <p:ph idx="1"/>
          </p:nvPr>
        </p:nvSpPr>
        <p:spPr bwMode="auto">
          <a:xfrm>
            <a:off x="228600" y="2286000"/>
            <a:ext cx="6553200" cy="39991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lvl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u="sng" kern="0" dirty="0">
                <a:solidFill>
                  <a:schemeClr val="tx1"/>
                </a:solidFill>
              </a:rPr>
              <a:t>Procedure: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1-Wash the stalagmometer with the water 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2- fill it with the water placed in a beaker or conical measure.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3- Withdraw the water slowly to avoid air bubbles introduction till the upper mark then close it.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4-Dry the nozzle of the stalagmometer with a tissue.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5-put the stalagmometer in a vertical position and allow water to fall from the upper mark to the lower mark and count the drops.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5- Repeat the experiment three times for water and record the three readings and take an average for them: 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			(N</a:t>
            </a:r>
            <a:r>
              <a:rPr lang="en-US" sz="2000" kern="0" baseline="-25000" dirty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+ N</a:t>
            </a:r>
            <a:r>
              <a:rPr lang="en-US" sz="2000" kern="0" baseline="-25000" dirty="0">
                <a:solidFill>
                  <a:schemeClr val="tx2">
                    <a:lumMod val="50000"/>
                  </a:schemeClr>
                </a:solidFill>
              </a:rPr>
              <a:t>2</a:t>
            </a: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+ N</a:t>
            </a:r>
            <a:r>
              <a:rPr lang="en-US" sz="2000" kern="0" baseline="-25000" dirty="0">
                <a:solidFill>
                  <a:schemeClr val="tx2">
                    <a:lumMod val="50000"/>
                  </a:schemeClr>
                </a:solidFill>
              </a:rPr>
              <a:t>3</a:t>
            </a: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) / 3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</a:rPr>
              <a:t>6- Repeat the same procedure  with the tested solutions.</a:t>
            </a:r>
          </a:p>
          <a:p>
            <a:pPr marL="0" lv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2000" kern="0" dirty="0"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7- calculate the surface tension of the liquids by applying the above equation.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sz="2400" kern="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686" y="2057400"/>
            <a:ext cx="2285999" cy="448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3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8354230" cy="709865"/>
          </a:xfrm>
        </p:spPr>
        <p:txBody>
          <a:bodyPr/>
          <a:lstStyle/>
          <a:p>
            <a:r>
              <a:rPr lang="en-US" sz="2400" b="1" i="1" u="sng" dirty="0"/>
              <a:t>Example:</a:t>
            </a:r>
            <a:br>
              <a:rPr lang="en-US" sz="2400" dirty="0"/>
            </a:br>
            <a:r>
              <a:rPr lang="en-US" sz="2400" dirty="0"/>
              <a:t>Calculate the surface tension of each solution then draw a graph for the results and determine the CMC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0250748"/>
              </p:ext>
            </p:extLst>
          </p:nvPr>
        </p:nvGraphicFramePr>
        <p:xfrm>
          <a:off x="304800" y="2044701"/>
          <a:ext cx="8305800" cy="462096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303976845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222729334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 rowSpan="2">
                  <a:txBody>
                    <a:bodyPr/>
                    <a:lstStyle/>
                    <a:p>
                      <a:r>
                        <a:rPr lang="en-US" dirty="0"/>
                        <a:t>Solution No.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Conc. (%)</a:t>
                      </a:r>
                    </a:p>
                  </a:txBody>
                  <a:tcPr anchor="ctr" anchorCtr="1"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No. of Drops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Surface Tension</a:t>
                      </a:r>
                    </a:p>
                    <a:p>
                      <a:pPr marL="290513" indent="0"/>
                      <a:r>
                        <a:rPr lang="en-US" dirty="0"/>
                        <a:t>(dyne/cm)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II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III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665602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1  (water)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72.8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2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1)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3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2)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4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3)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5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4)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6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5)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026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27" y="685800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b="1" u="sng" dirty="0"/>
              <a:t>Measurement of surface tension</a:t>
            </a:r>
            <a:br>
              <a:rPr lang="en-US" b="1" u="sng" dirty="0"/>
            </a:br>
            <a:r>
              <a:rPr lang="en-US" b="1" u="sng" dirty="0"/>
              <a:t>Drop weight method</a:t>
            </a:r>
            <a:br>
              <a:rPr lang="en-US" b="1" u="sng" dirty="0"/>
            </a:br>
            <a:endParaRPr lang="en-US" b="1" u="sng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59509" y="5910743"/>
            <a:ext cx="3350491" cy="21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582" y="5932552"/>
            <a:ext cx="2961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 No. of liquid drops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1424" y="55845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dirty="0">
                <a:cs typeface="Tahoma" pitchFamily="34" charset="0"/>
              </a:rPr>
              <a:t> surface tension of water</a:t>
            </a:r>
          </a:p>
          <a:p>
            <a:r>
              <a:rPr lang="en-US" sz="2800" dirty="0">
                <a:cs typeface="Tahoma" pitchFamily="34" charset="0"/>
              </a:rPr>
              <a:t>               (ɣ =72.8)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0" y="5246752"/>
            <a:ext cx="8862906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4" t="12021" r="6756" b="63096"/>
          <a:stretch/>
        </p:blipFill>
        <p:spPr bwMode="auto">
          <a:xfrm>
            <a:off x="1066800" y="2133600"/>
            <a:ext cx="6248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24873" y="5322891"/>
            <a:ext cx="3510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 No. of water drops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499913" y="3886200"/>
            <a:ext cx="40671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000" b="1" dirty="0">
                <a:cs typeface="Tahoma" pitchFamily="34" charset="0"/>
              </a:rPr>
              <a:t>ɣ </a:t>
            </a:r>
            <a:r>
              <a:rPr lang="en-US" sz="4000" b="1" baseline="-25000" dirty="0">
                <a:cs typeface="Tahoma" pitchFamily="34" charset="0"/>
              </a:rPr>
              <a:t>1 </a:t>
            </a:r>
            <a:r>
              <a:rPr lang="en-US" sz="4000" b="1" dirty="0">
                <a:cs typeface="Tahoma" pitchFamily="34" charset="0"/>
              </a:rPr>
              <a:t>/ ɣ </a:t>
            </a:r>
            <a:r>
              <a:rPr lang="en-US" sz="4000" b="1" baseline="-25000" dirty="0">
                <a:cs typeface="Tahoma" pitchFamily="34" charset="0"/>
              </a:rPr>
              <a:t>2 </a:t>
            </a:r>
            <a:r>
              <a:rPr lang="en-US" sz="4000" b="1" dirty="0">
                <a:cs typeface="Tahoma" pitchFamily="34" charset="0"/>
              </a:rPr>
              <a:t>= n</a:t>
            </a:r>
            <a:r>
              <a:rPr lang="en-US" sz="4000" b="1" baseline="-25000" dirty="0">
                <a:cs typeface="Tahoma" pitchFamily="34" charset="0"/>
              </a:rPr>
              <a:t>2 </a:t>
            </a:r>
            <a:r>
              <a:rPr lang="en-US" sz="4000" b="1" dirty="0">
                <a:cs typeface="Tahoma" pitchFamily="34" charset="0"/>
              </a:rPr>
              <a:t>/ n</a:t>
            </a:r>
            <a:r>
              <a:rPr lang="en-US" sz="4000" b="1" baseline="-25000" dirty="0">
                <a:cs typeface="Tahoma" pitchFamily="34" charset="0"/>
              </a:rPr>
              <a:t>1</a:t>
            </a:r>
            <a:r>
              <a:rPr lang="en-US" sz="4000" b="1" dirty="0">
                <a:cs typeface="Tahoma" pitchFamily="34" charset="0"/>
              </a:rPr>
              <a:t> </a:t>
            </a:r>
            <a:endParaRPr lang="en-US" sz="4000" b="1" baseline="-25000" dirty="0">
              <a:cs typeface="Tahoma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76172" y="3886200"/>
            <a:ext cx="409088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-53955" y="5467886"/>
            <a:ext cx="585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cs typeface="Tahoma" pitchFamily="34" charset="0"/>
              </a:rPr>
              <a:t>ɣ</a:t>
            </a:r>
            <a:r>
              <a:rPr lang="en-US" b="1" dirty="0">
                <a:cs typeface="Tahoma" pitchFamily="34" charset="0"/>
              </a:rPr>
              <a:t>=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905500" y="3947755"/>
            <a:ext cx="2957406" cy="7078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b="1" u="sng" dirty="0">
                <a:solidFill>
                  <a:schemeClr val="accent1"/>
                </a:solidFill>
              </a:rPr>
              <a:t>Unit :</a:t>
            </a:r>
            <a:endParaRPr lang="en-US" sz="2000" b="1" u="sng" dirty="0"/>
          </a:p>
          <a:p>
            <a:pPr algn="just">
              <a:defRPr/>
            </a:pPr>
            <a:r>
              <a:rPr lang="en-US" sz="2000" b="1" dirty="0"/>
              <a:t>erg/cm</a:t>
            </a:r>
            <a:r>
              <a:rPr lang="en-US" sz="2000" b="1" baseline="30000" dirty="0"/>
              <a:t>2 </a:t>
            </a:r>
            <a:r>
              <a:rPr lang="en-US" sz="2000" b="1" dirty="0"/>
              <a:t> or </a:t>
            </a:r>
            <a:r>
              <a:rPr lang="en-US" sz="2000" b="1" baseline="30000" dirty="0"/>
              <a:t> </a:t>
            </a:r>
            <a:r>
              <a:rPr lang="en-US" sz="2000" b="1" dirty="0"/>
              <a:t> dyne/cm</a:t>
            </a:r>
            <a:endParaRPr lang="en-US" sz="2000" b="1" dirty="0"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C471-7526-FBA7-E261-D80B1A06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A2F55-EDC2-64EF-9FEB-266D544DF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A5BD5-B7DE-6B15-815F-C830DA37E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00" b="-1250"/>
          <a:stretch/>
        </p:blipFill>
        <p:spPr>
          <a:xfrm>
            <a:off x="484909" y="6927"/>
            <a:ext cx="8686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3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4"/>
          <p:cNvSpPr>
            <a:spLocks noGrp="1" noChangeArrowheads="1"/>
          </p:cNvSpPr>
          <p:nvPr>
            <p:ph type="title"/>
          </p:nvPr>
        </p:nvSpPr>
        <p:spPr>
          <a:xfrm>
            <a:off x="6927" y="922085"/>
            <a:ext cx="8811430" cy="70986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b="1" u="sng" dirty="0"/>
              <a:t>Critical Micelle concentration (CMC)</a:t>
            </a:r>
          </a:p>
        </p:txBody>
      </p:sp>
      <p:graphicFrame>
        <p:nvGraphicFramePr>
          <p:cNvPr id="83971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281571"/>
              </p:ext>
            </p:extLst>
          </p:nvPr>
        </p:nvGraphicFramePr>
        <p:xfrm>
          <a:off x="2667000" y="2362200"/>
          <a:ext cx="5006975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962306" imgH="3105189" progId="Excel.Sheet.8">
                  <p:embed/>
                </p:oleObj>
              </mc:Choice>
              <mc:Fallback>
                <p:oleObj name="Worksheet" r:id="rId3" imgW="2962306" imgH="3105189" progId="Excel.Sheet.8">
                  <p:embed/>
                  <p:pic>
                    <p:nvPicPr>
                      <p:cNvPr id="83971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362200"/>
                        <a:ext cx="5006975" cy="426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Line 6"/>
          <p:cNvSpPr>
            <a:spLocks noChangeShapeType="1"/>
          </p:cNvSpPr>
          <p:nvPr/>
        </p:nvSpPr>
        <p:spPr bwMode="auto">
          <a:xfrm>
            <a:off x="5676441" y="4648200"/>
            <a:ext cx="0" cy="1340788"/>
          </a:xfrm>
          <a:prstGeom prst="line">
            <a:avLst/>
          </a:prstGeom>
          <a:noFill/>
          <a:ln w="476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 rot="16200000">
            <a:off x="1104900" y="4457700"/>
            <a:ext cx="2133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S.T (dyne/cm)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581400" y="6248400"/>
            <a:ext cx="2133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SAA conc. (%)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44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OleChart spid="83971" grpId="0"/>
      <p:bldP spid="8397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900299"/>
              </p:ext>
            </p:extLst>
          </p:nvPr>
        </p:nvGraphicFramePr>
        <p:xfrm>
          <a:off x="381000" y="2286000"/>
          <a:ext cx="8305800" cy="4419598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7358">
                <a:tc>
                  <a:txBody>
                    <a:bodyPr/>
                    <a:lstStyle/>
                    <a:p>
                      <a:r>
                        <a:rPr lang="en-US" dirty="0"/>
                        <a:t>Solution No.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Conc. (%)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no. of Drops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Surface Tension</a:t>
                      </a:r>
                    </a:p>
                    <a:p>
                      <a:pPr marL="290513" indent="0"/>
                      <a:r>
                        <a:rPr lang="en-US" dirty="0"/>
                        <a:t>(dyne/cm)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1  (water)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72.8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2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1)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3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2)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4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3)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5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4)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040">
                <a:tc>
                  <a:txBody>
                    <a:bodyPr/>
                    <a:lstStyle/>
                    <a:p>
                      <a:r>
                        <a:rPr lang="en-US" dirty="0"/>
                        <a:t>6  (Sol</a:t>
                      </a:r>
                      <a:r>
                        <a:rPr lang="en-US" u="sng" baseline="30000" dirty="0"/>
                        <a:t>n</a:t>
                      </a:r>
                      <a:r>
                        <a:rPr lang="en-US" dirty="0"/>
                        <a:t> 5)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719174"/>
      </p:ext>
    </p:extLst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80BC-031A-45BD-4334-14F0E7FD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4">
            <a:extLst>
              <a:ext uri="{FF2B5EF4-FFF2-40B4-BE49-F238E27FC236}">
                <a16:creationId xmlns:a16="http://schemas.microsoft.com/office/drawing/2014/main" id="{2FCED245-5EBA-38A6-E1BE-C34CD214B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27" y="922085"/>
            <a:ext cx="8811430" cy="70986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b="1" u="sng" dirty="0"/>
              <a:t>Critical Micelle concentration (CMC)</a:t>
            </a:r>
          </a:p>
        </p:txBody>
      </p:sp>
      <p:graphicFrame>
        <p:nvGraphicFramePr>
          <p:cNvPr id="83971" name="Object 3">
            <a:extLst>
              <a:ext uri="{FF2B5EF4-FFF2-40B4-BE49-F238E27FC236}">
                <a16:creationId xmlns:a16="http://schemas.microsoft.com/office/drawing/2014/main" id="{310ED9B7-F3D5-6A57-128B-96049FEED05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456714"/>
              </p:ext>
            </p:extLst>
          </p:nvPr>
        </p:nvGraphicFramePr>
        <p:xfrm>
          <a:off x="1600200" y="2362200"/>
          <a:ext cx="60960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943394" imgH="2933621" progId="Excel.Sheet.8">
                  <p:embed/>
                </p:oleObj>
              </mc:Choice>
              <mc:Fallback>
                <p:oleObj name="Worksheet" r:id="rId3" imgW="2943394" imgH="2933621" progId="Excel.Sheet.8">
                  <p:embed/>
                  <p:pic>
                    <p:nvPicPr>
                      <p:cNvPr id="83971" name="Object 3">
                        <a:extLst>
                          <a:ext uri="{FF2B5EF4-FFF2-40B4-BE49-F238E27FC236}">
                            <a16:creationId xmlns:a16="http://schemas.microsoft.com/office/drawing/2014/main" id="{310ED9B7-F3D5-6A57-128B-96049FEED05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362200"/>
                        <a:ext cx="6096000" cy="426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Line 6">
            <a:extLst>
              <a:ext uri="{FF2B5EF4-FFF2-40B4-BE49-F238E27FC236}">
                <a16:creationId xmlns:a16="http://schemas.microsoft.com/office/drawing/2014/main" id="{D069AB7A-E4E6-CD17-06BC-1B60A7E00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649643"/>
            <a:ext cx="0" cy="1340788"/>
          </a:xfrm>
          <a:prstGeom prst="line">
            <a:avLst/>
          </a:prstGeom>
          <a:noFill/>
          <a:ln w="476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53280-5D1B-B2D6-E778-A93B24C17B42}"/>
              </a:ext>
            </a:extLst>
          </p:cNvPr>
          <p:cNvSpPr/>
          <p:nvPr/>
        </p:nvSpPr>
        <p:spPr>
          <a:xfrm rot="16200000">
            <a:off x="74613" y="3794125"/>
            <a:ext cx="2133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S.T (dyne/cm)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6809E2-7E36-5457-B16A-1D9E2EEA26E6}"/>
              </a:ext>
            </a:extLst>
          </p:cNvPr>
          <p:cNvSpPr/>
          <p:nvPr/>
        </p:nvSpPr>
        <p:spPr>
          <a:xfrm>
            <a:off x="3581400" y="6248400"/>
            <a:ext cx="2133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SAA conc. (%)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559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OleChart spid="83971" grpId="0"/>
      <p:bldP spid="8397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Zizo\Desktop\than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7313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7|0.7|0.7|1.3|60.2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30.9|1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96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96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643</TotalTime>
  <Words>524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Ion Boardroom</vt:lpstr>
      <vt:lpstr>PowerPoint Presentation</vt:lpstr>
      <vt:lpstr>PowerPoint Presentation</vt:lpstr>
      <vt:lpstr>PowerPoint Presentation</vt:lpstr>
      <vt:lpstr>Surface tension and interfacial tension phenomena</vt:lpstr>
      <vt:lpstr>Surface active agent (Surfactants)</vt:lpstr>
      <vt:lpstr>Micelle formation:</vt:lpstr>
      <vt:lpstr>Measurement of surface tension Drop weight method  </vt:lpstr>
      <vt:lpstr>Example: Calculate the surface tension of each solution then draw a graph for the results and determine the CMC</vt:lpstr>
      <vt:lpstr>Measurement of surface tension Drop weight method </vt:lpstr>
      <vt:lpstr>PowerPoint Presentation</vt:lpstr>
      <vt:lpstr>Critical Micelle concentration (CMC)</vt:lpstr>
      <vt:lpstr>PowerPoint Presentation</vt:lpstr>
      <vt:lpstr>Critical Micelle concentration (CMC)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</dc:title>
  <dc:creator>Yasmine</dc:creator>
  <cp:lastModifiedBy>Asmaa Samy Mesalhy Omara</cp:lastModifiedBy>
  <cp:revision>43</cp:revision>
  <dcterms:created xsi:type="dcterms:W3CDTF">2006-08-16T00:00:00Z</dcterms:created>
  <dcterms:modified xsi:type="dcterms:W3CDTF">2026-03-06T10:58:41Z</dcterms:modified>
</cp:coreProperties>
</file>